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60" r:id="rId2"/>
    <p:sldId id="257" r:id="rId3"/>
    <p:sldId id="258" r:id="rId4"/>
    <p:sldId id="259" r:id="rId5"/>
    <p:sldId id="256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2C2C"/>
    <a:srgbClr val="214552"/>
    <a:srgbClr val="62A5FC"/>
    <a:srgbClr val="DBCA9E"/>
    <a:srgbClr val="EFD2D2"/>
    <a:srgbClr val="F7EAEA"/>
    <a:srgbClr val="E7E5D6"/>
    <a:srgbClr val="EBE5E3"/>
    <a:srgbClr val="322559"/>
    <a:srgbClr val="2028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37F39B-628B-41B2-B788-D84F87953342}" v="5330" dt="2026-09-27T19:10:32.230"/>
    <p1510:client id="{5995F857-1A2B-4958-8C4B-FECC688692CF}" v="115" dt="2026-09-28T18:24:13.493"/>
    <p1510:client id="{7ED82FBD-DF4F-4435-B8AA-CB875F567F0B}" v="627" dt="2026-09-27T07:12:47.2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61FA5A-93F5-413A-84AC-28F639EAAF09}" type="doc">
      <dgm:prSet loTypeId="urn:microsoft.com/office/officeart/2005/8/layout/vList2" loCatId="list" qsTypeId="urn:microsoft.com/office/officeart/2005/8/quickstyle/simple3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DB064FE7-D91D-44B6-B2A3-235C14C290AA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id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</a:t>
          </a:r>
          <a:r>
            <a:rPr lang="en-US" sz="1400" b="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i="1" dirty="0">
              <a:latin typeface="Times New Roman"/>
              <a:ea typeface="+mn-ea"/>
              <a:cs typeface="Times New Roman"/>
            </a:rPr>
            <a:t>Unique identifier for each Airbnb listing.</a:t>
          </a:r>
          <a:endParaRPr lang="en-US" sz="1400" b="1" i="1" dirty="0">
            <a:latin typeface="Times New Roman"/>
            <a:ea typeface="+mn-ea"/>
            <a:cs typeface="Times New Roman"/>
          </a:endParaRPr>
        </a:p>
      </dgm:t>
    </dgm:pt>
    <dgm:pt modelId="{524916A8-FD7C-4431-ABB9-14BF5E377BCA}" type="parTrans" cxnId="{94885501-5E72-4EFC-BAC0-2E5960D92499}">
      <dgm:prSet/>
      <dgm:spPr/>
      <dgm:t>
        <a:bodyPr/>
        <a:lstStyle/>
        <a:p>
          <a:endParaRPr lang="en-US"/>
        </a:p>
      </dgm:t>
    </dgm:pt>
    <dgm:pt modelId="{C940A001-23A9-4688-ACCE-21C94CB8A01D}" type="sibTrans" cxnId="{94885501-5E72-4EFC-BAC0-2E5960D92499}">
      <dgm:prSet/>
      <dgm:spPr/>
      <dgm:t>
        <a:bodyPr/>
        <a:lstStyle/>
        <a:p>
          <a:endParaRPr lang="en-US"/>
        </a:p>
      </dgm:t>
    </dgm:pt>
    <dgm:pt modelId="{65EBB1E4-2A22-4CD3-9A1F-D2EC148923A2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name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Name/title of the Airbnb listing.</a:t>
          </a:r>
        </a:p>
      </dgm:t>
    </dgm:pt>
    <dgm:pt modelId="{42DF1FA3-3E1A-410C-B551-15C80968635F}" type="parTrans" cxnId="{DFCDE6E6-F12F-4F11-A999-EB8A7E9AA406}">
      <dgm:prSet/>
      <dgm:spPr/>
      <dgm:t>
        <a:bodyPr/>
        <a:lstStyle/>
        <a:p>
          <a:endParaRPr lang="en-US"/>
        </a:p>
      </dgm:t>
    </dgm:pt>
    <dgm:pt modelId="{7E66AD01-CC01-4A65-A529-B81A7570F05D}" type="sibTrans" cxnId="{DFCDE6E6-F12F-4F11-A999-EB8A7E9AA406}">
      <dgm:prSet/>
      <dgm:spPr/>
      <dgm:t>
        <a:bodyPr/>
        <a:lstStyle/>
        <a:p>
          <a:endParaRPr lang="en-US"/>
        </a:p>
      </dgm:t>
    </dgm:pt>
    <dgm:pt modelId="{261CB0C5-35F2-4F7F-924A-BE1F44C3F39C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host_id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Unique identifier of the host who owns/manages the listing.</a:t>
          </a:r>
        </a:p>
      </dgm:t>
    </dgm:pt>
    <dgm:pt modelId="{26A56E7F-F912-4D77-B9E1-AD4B65306641}" type="parTrans" cxnId="{12820146-1A3A-4186-9CAF-F78FE983E1A6}">
      <dgm:prSet/>
      <dgm:spPr/>
      <dgm:t>
        <a:bodyPr/>
        <a:lstStyle/>
        <a:p>
          <a:endParaRPr lang="en-US"/>
        </a:p>
      </dgm:t>
    </dgm:pt>
    <dgm:pt modelId="{41ECC0A2-6A67-4BAD-A5EF-0574174FC6A8}" type="sibTrans" cxnId="{12820146-1A3A-4186-9CAF-F78FE983E1A6}">
      <dgm:prSet/>
      <dgm:spPr/>
      <dgm:t>
        <a:bodyPr/>
        <a:lstStyle/>
        <a:p>
          <a:endParaRPr lang="en-US"/>
        </a:p>
      </dgm:t>
    </dgm:pt>
    <dgm:pt modelId="{1FCB9D68-C56A-417D-9B6D-77CDAD6F8946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host_name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Name of the host.</a:t>
          </a:r>
          <a:endParaRPr lang="en-US" sz="1400" b="1" i="1" dirty="0">
            <a:latin typeface="Times New Roman"/>
            <a:ea typeface="+mn-ea"/>
            <a:cs typeface="Times New Roman"/>
          </a:endParaRPr>
        </a:p>
      </dgm:t>
    </dgm:pt>
    <dgm:pt modelId="{3BAE9906-08F8-47DD-82D9-8EA508AD36CB}" type="parTrans" cxnId="{3E39C001-B7C5-412A-AFC9-D09876C2DBC9}">
      <dgm:prSet/>
      <dgm:spPr/>
      <dgm:t>
        <a:bodyPr/>
        <a:lstStyle/>
        <a:p>
          <a:endParaRPr lang="en-US"/>
        </a:p>
      </dgm:t>
    </dgm:pt>
    <dgm:pt modelId="{90C6E0D9-C2AC-4A63-ADB3-169E282018DD}" type="sibTrans" cxnId="{3E39C001-B7C5-412A-AFC9-D09876C2DBC9}">
      <dgm:prSet/>
      <dgm:spPr/>
      <dgm:t>
        <a:bodyPr/>
        <a:lstStyle/>
        <a:p>
          <a:endParaRPr lang="en-US"/>
        </a:p>
      </dgm:t>
    </dgm:pt>
    <dgm:pt modelId="{0F256E20-08AF-4643-A55F-DED195BD1FE8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neighbourhood_group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The larger NYC Place(</a:t>
          </a:r>
          <a:r>
            <a:rPr lang="en-US" sz="1400" i="1" dirty="0" err="1">
              <a:latin typeface="Times New Roman"/>
              <a:ea typeface="+mn-ea"/>
              <a:cs typeface="Times New Roman"/>
            </a:rPr>
            <a:t>Neighbourhood</a:t>
          </a:r>
          <a:r>
            <a:rPr lang="en-US" sz="1400" i="1" dirty="0">
              <a:latin typeface="Times New Roman"/>
              <a:ea typeface="+mn-ea"/>
              <a:cs typeface="Times New Roman"/>
            </a:rPr>
            <a:t>) where the listing is located: Manhattan, Brooklyn, Queens, Bronx, or Staten Island.</a:t>
          </a:r>
        </a:p>
      </dgm:t>
    </dgm:pt>
    <dgm:pt modelId="{45418B46-4D31-4742-89A1-E093D34B2448}" type="parTrans" cxnId="{50F4E7C3-27B8-4978-B190-C5DB319F0D8D}">
      <dgm:prSet/>
      <dgm:spPr/>
      <dgm:t>
        <a:bodyPr/>
        <a:lstStyle/>
        <a:p>
          <a:endParaRPr lang="en-US"/>
        </a:p>
      </dgm:t>
    </dgm:pt>
    <dgm:pt modelId="{5AA02967-4201-4C81-83D4-AC6D3204F193}" type="sibTrans" cxnId="{50F4E7C3-27B8-4978-B190-C5DB319F0D8D}">
      <dgm:prSet/>
      <dgm:spPr/>
      <dgm:t>
        <a:bodyPr/>
        <a:lstStyle/>
        <a:p>
          <a:endParaRPr lang="en-US"/>
        </a:p>
      </dgm:t>
    </dgm:pt>
    <dgm:pt modelId="{857A0749-8D39-4DFF-B87F-45D213D58D9F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neighbourhood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The specific neighborhood where the listing is located.</a:t>
          </a:r>
        </a:p>
      </dgm:t>
    </dgm:pt>
    <dgm:pt modelId="{6F79AEBC-8575-4872-81B5-8B2FAADD7883}" type="parTrans" cxnId="{2A2DC43E-8A71-43C1-8711-8D3E408DCC8A}">
      <dgm:prSet/>
      <dgm:spPr/>
      <dgm:t>
        <a:bodyPr/>
        <a:lstStyle/>
        <a:p>
          <a:endParaRPr lang="en-US"/>
        </a:p>
      </dgm:t>
    </dgm:pt>
    <dgm:pt modelId="{6BD7845C-A98A-4A76-96E7-875B053220E3}" type="sibTrans" cxnId="{2A2DC43E-8A71-43C1-8711-8D3E408DCC8A}">
      <dgm:prSet/>
      <dgm:spPr/>
      <dgm:t>
        <a:bodyPr/>
        <a:lstStyle/>
        <a:p>
          <a:endParaRPr lang="en-US"/>
        </a:p>
      </dgm:t>
    </dgm:pt>
    <dgm:pt modelId="{5812E410-7DDE-494A-953D-721E20DF3F7A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latitude</a:t>
          </a:r>
          <a:r>
            <a:rPr lang="en-US" sz="1400" i="1" dirty="0">
              <a:latin typeface="Times New Roman"/>
              <a:ea typeface="+mn-ea"/>
              <a:cs typeface="Times New Roman"/>
            </a:rPr>
            <a:t> 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 </a:t>
          </a:r>
          <a:r>
            <a:rPr lang="en-US" sz="1400" i="1" dirty="0">
              <a:latin typeface="Times New Roman"/>
              <a:ea typeface="+mn-ea"/>
              <a:cs typeface="Times New Roman"/>
            </a:rPr>
            <a:t>Geographic latitude of the listing.</a:t>
          </a:r>
          <a:endParaRPr lang="en-US" sz="1400" b="0" i="1" dirty="0">
            <a:latin typeface="Times New Roman"/>
            <a:ea typeface="+mn-ea"/>
            <a:cs typeface="Times New Roman"/>
          </a:endParaRPr>
        </a:p>
      </dgm:t>
    </dgm:pt>
    <dgm:pt modelId="{6E72557F-9298-4FB0-8AB9-2B7F0C2EEAD2}" type="parTrans" cxnId="{43BFEB02-0221-4174-B62D-87BE32F0B815}">
      <dgm:prSet/>
      <dgm:spPr/>
      <dgm:t>
        <a:bodyPr/>
        <a:lstStyle/>
        <a:p>
          <a:endParaRPr lang="en-US"/>
        </a:p>
      </dgm:t>
    </dgm:pt>
    <dgm:pt modelId="{0FBC24AD-B97A-4AD4-88F2-63FE9598E95B}" type="sibTrans" cxnId="{43BFEB02-0221-4174-B62D-87BE32F0B815}">
      <dgm:prSet/>
      <dgm:spPr/>
      <dgm:t>
        <a:bodyPr/>
        <a:lstStyle/>
        <a:p>
          <a:endParaRPr lang="en-US"/>
        </a:p>
      </dgm:t>
    </dgm:pt>
    <dgm:pt modelId="{CB5407DC-D88D-4F3E-9460-15784A279172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longitude</a:t>
          </a:r>
          <a:r>
            <a:rPr lang="en-US" sz="1400" i="1" dirty="0">
              <a:latin typeface="Times New Roman"/>
              <a:ea typeface="+mn-ea"/>
              <a:cs typeface="Times New Roman"/>
            </a:rPr>
            <a:t> 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 </a:t>
          </a:r>
          <a:r>
            <a:rPr lang="en-US" sz="1400" i="1" dirty="0">
              <a:latin typeface="Times New Roman"/>
              <a:ea typeface="+mn-ea"/>
              <a:cs typeface="Times New Roman"/>
            </a:rPr>
            <a:t>Geographic longitude of the listing.</a:t>
          </a:r>
          <a:endParaRPr lang="en-US" sz="1400" b="1" i="1" dirty="0">
            <a:latin typeface="Times New Roman"/>
            <a:ea typeface="+mn-ea"/>
            <a:cs typeface="Times New Roman"/>
          </a:endParaRPr>
        </a:p>
      </dgm:t>
    </dgm:pt>
    <dgm:pt modelId="{5C5440DC-A382-40C1-812D-098B3EEFB6FB}" type="parTrans" cxnId="{49753F0F-2989-450F-9243-305632A2CCBC}">
      <dgm:prSet/>
      <dgm:spPr/>
      <dgm:t>
        <a:bodyPr/>
        <a:lstStyle/>
        <a:p>
          <a:endParaRPr lang="en-US"/>
        </a:p>
      </dgm:t>
    </dgm:pt>
    <dgm:pt modelId="{E6439F85-5CCE-4207-9127-0531CF3B6973}" type="sibTrans" cxnId="{49753F0F-2989-450F-9243-305632A2CCBC}">
      <dgm:prSet/>
      <dgm:spPr/>
      <dgm:t>
        <a:bodyPr/>
        <a:lstStyle/>
        <a:p>
          <a:endParaRPr lang="en-US"/>
        </a:p>
      </dgm:t>
    </dgm:pt>
    <dgm:pt modelId="{AA063F83-71FA-4BE5-B762-027D80730AF3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room_type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Type of accommodation offered: Entire home/apt, Private room, or Shared room.</a:t>
          </a:r>
        </a:p>
      </dgm:t>
    </dgm:pt>
    <dgm:pt modelId="{8BB23C8C-F1CD-4D0D-9EFA-734D89AADFCC}" type="parTrans" cxnId="{399748F2-5286-45E1-BAF5-4900AC92D0A3}">
      <dgm:prSet/>
      <dgm:spPr/>
      <dgm:t>
        <a:bodyPr/>
        <a:lstStyle/>
        <a:p>
          <a:endParaRPr lang="en-US"/>
        </a:p>
      </dgm:t>
    </dgm:pt>
    <dgm:pt modelId="{3CF63372-E1BC-4BB5-9C66-CC7C8505BE7E}" type="sibTrans" cxnId="{399748F2-5286-45E1-BAF5-4900AC92D0A3}">
      <dgm:prSet/>
      <dgm:spPr/>
      <dgm:t>
        <a:bodyPr/>
        <a:lstStyle/>
        <a:p>
          <a:endParaRPr lang="en-US"/>
        </a:p>
      </dgm:t>
    </dgm:pt>
    <dgm:pt modelId="{C9EC9FCD-3060-4796-B8B6-C4BBD5D18790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 err="1">
              <a:latin typeface="Times New Roman"/>
              <a:ea typeface="+mn-ea"/>
              <a:cs typeface="Times New Roman"/>
            </a:rPr>
            <a:t>minimum_nights</a:t>
          </a:r>
          <a:r>
            <a:rPr lang="en-US" sz="1400" i="1" dirty="0">
              <a:latin typeface="Times New Roman"/>
              <a:ea typeface="+mn-ea"/>
              <a:cs typeface="Times New Roman"/>
            </a:rPr>
            <a:t> 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 </a:t>
          </a:r>
          <a:r>
            <a:rPr lang="en-US" sz="1400" i="1" dirty="0">
              <a:latin typeface="Times New Roman"/>
              <a:ea typeface="+mn-ea"/>
              <a:cs typeface="Times New Roman"/>
            </a:rPr>
            <a:t>number of nights that a guest must book.</a:t>
          </a:r>
        </a:p>
      </dgm:t>
    </dgm:pt>
    <dgm:pt modelId="{F2F090AE-9ACE-47CD-B00D-A2EEAB0EC89A}" type="parTrans" cxnId="{5BC89FAC-581C-4AA6-A832-074C0881AC7E}">
      <dgm:prSet/>
      <dgm:spPr/>
      <dgm:t>
        <a:bodyPr/>
        <a:lstStyle/>
        <a:p>
          <a:endParaRPr lang="en-US"/>
        </a:p>
      </dgm:t>
    </dgm:pt>
    <dgm:pt modelId="{94E0C825-7AB5-4D6C-AEC4-D0E54999BF04}" type="sibTrans" cxnId="{5BC89FAC-581C-4AA6-A832-074C0881AC7E}">
      <dgm:prSet/>
      <dgm:spPr/>
      <dgm:t>
        <a:bodyPr/>
        <a:lstStyle/>
        <a:p>
          <a:endParaRPr lang="en-US"/>
        </a:p>
      </dgm:t>
    </dgm:pt>
    <dgm:pt modelId="{CCEB9BC1-E3C4-4AA4-8EEB-E5CD913C0FD0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number_of_reviews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Total number of reviews received by the listing.</a:t>
          </a:r>
        </a:p>
      </dgm:t>
    </dgm:pt>
    <dgm:pt modelId="{8239380D-9AE4-4884-A6ED-E7F8EF8A6BE7}" type="parTrans" cxnId="{A528688C-C123-4038-8D0E-8B832485F752}">
      <dgm:prSet/>
      <dgm:spPr/>
      <dgm:t>
        <a:bodyPr/>
        <a:lstStyle/>
        <a:p>
          <a:endParaRPr lang="en-US"/>
        </a:p>
      </dgm:t>
    </dgm:pt>
    <dgm:pt modelId="{F8A64888-A7F2-49F9-9FE3-840969ECC81F}" type="sibTrans" cxnId="{A528688C-C123-4038-8D0E-8B832485F752}">
      <dgm:prSet/>
      <dgm:spPr/>
      <dgm:t>
        <a:bodyPr/>
        <a:lstStyle/>
        <a:p>
          <a:endParaRPr lang="en-US"/>
        </a:p>
      </dgm:t>
    </dgm:pt>
    <dgm:pt modelId="{92108B0C-0889-4E92-A546-DE2D268C0B6C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last_review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Date of the most recent review for the listing.</a:t>
          </a:r>
        </a:p>
      </dgm:t>
    </dgm:pt>
    <dgm:pt modelId="{E33B79C9-211C-40B8-BBCF-BC183CE4FCFD}" type="parTrans" cxnId="{11BC3FBE-6341-46FC-B531-10BE8880FB8A}">
      <dgm:prSet/>
      <dgm:spPr/>
      <dgm:t>
        <a:bodyPr/>
        <a:lstStyle/>
        <a:p>
          <a:endParaRPr lang="en-US"/>
        </a:p>
      </dgm:t>
    </dgm:pt>
    <dgm:pt modelId="{C3E5EFE8-7C43-41D9-A0A3-8C3DD0388B7E}" type="sibTrans" cxnId="{11BC3FBE-6341-46FC-B531-10BE8880FB8A}">
      <dgm:prSet/>
      <dgm:spPr/>
      <dgm:t>
        <a:bodyPr/>
        <a:lstStyle/>
        <a:p>
          <a:endParaRPr lang="en-US"/>
        </a:p>
      </dgm:t>
    </dgm:pt>
    <dgm:pt modelId="{B5FC99B9-B0DC-4110-8E27-395F0B7F2D3F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reviews_per_month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Average number of reviews received per month.</a:t>
          </a:r>
        </a:p>
      </dgm:t>
    </dgm:pt>
    <dgm:pt modelId="{C84FE6AE-E68F-42CD-9720-71B011A35621}" type="parTrans" cxnId="{A2DD6DAD-A179-49FA-B949-5AC426953CC6}">
      <dgm:prSet/>
      <dgm:spPr/>
      <dgm:t>
        <a:bodyPr/>
        <a:lstStyle/>
        <a:p>
          <a:endParaRPr lang="en-US"/>
        </a:p>
      </dgm:t>
    </dgm:pt>
    <dgm:pt modelId="{09269669-60AF-432A-82FC-DDF0E211BA0E}" type="sibTrans" cxnId="{A2DD6DAD-A179-49FA-B949-5AC426953CC6}">
      <dgm:prSet/>
      <dgm:spPr/>
      <dgm:t>
        <a:bodyPr/>
        <a:lstStyle/>
        <a:p>
          <a:endParaRPr lang="en-US"/>
        </a:p>
      </dgm:t>
    </dgm:pt>
    <dgm:pt modelId="{98AAF8D2-563B-4B4C-A08D-D4A31B2BBC39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calculated_host_listings_count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Number of Airbnb listings associated with that host.</a:t>
          </a:r>
          <a:endParaRPr lang="en-US" sz="1400" b="0" i="1" dirty="0">
            <a:latin typeface="Times New Roman"/>
            <a:ea typeface="+mn-ea"/>
            <a:cs typeface="Times New Roman"/>
          </a:endParaRPr>
        </a:p>
      </dgm:t>
    </dgm:pt>
    <dgm:pt modelId="{CED37AB0-79CC-4A2E-8D0F-8DE3B734988C}" type="parTrans" cxnId="{82491776-870B-49DE-AD90-0A6CAF944922}">
      <dgm:prSet/>
      <dgm:spPr/>
      <dgm:t>
        <a:bodyPr/>
        <a:lstStyle/>
        <a:p>
          <a:endParaRPr lang="en-US"/>
        </a:p>
      </dgm:t>
    </dgm:pt>
    <dgm:pt modelId="{78A58F53-398E-401D-B05C-24ECA39C256E}" type="sibTrans" cxnId="{82491776-870B-49DE-AD90-0A6CAF944922}">
      <dgm:prSet/>
      <dgm:spPr/>
      <dgm:t>
        <a:bodyPr/>
        <a:lstStyle/>
        <a:p>
          <a:endParaRPr lang="en-US"/>
        </a:p>
      </dgm:t>
    </dgm:pt>
    <dgm:pt modelId="{CBC14BFD-D8DB-4C4E-AD33-697DA26E3B4E}">
      <dgm:prSet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availability_365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dirty="0">
              <a:latin typeface="Times New Roman"/>
              <a:ea typeface="+mn-ea"/>
              <a:cs typeface="Times New Roman"/>
            </a:rPr>
            <a:t> Number of days during the year that the listing is available for booking, from 0 to 365 </a:t>
          </a:r>
        </a:p>
      </dgm:t>
    </dgm:pt>
    <dgm:pt modelId="{429E92D4-B150-4731-A74E-842F0AA5CBAC}" type="parTrans" cxnId="{467ED4DA-6F8C-4D2E-AEC2-34840A5308B3}">
      <dgm:prSet/>
      <dgm:spPr/>
      <dgm:t>
        <a:bodyPr/>
        <a:lstStyle/>
        <a:p>
          <a:endParaRPr lang="en-US"/>
        </a:p>
      </dgm:t>
    </dgm:pt>
    <dgm:pt modelId="{38B8AE03-EEA2-4E69-A408-6A97C801488C}" type="sibTrans" cxnId="{467ED4DA-6F8C-4D2E-AEC2-34840A5308B3}">
      <dgm:prSet/>
      <dgm:spPr/>
      <dgm:t>
        <a:bodyPr/>
        <a:lstStyle/>
        <a:p>
          <a:endParaRPr lang="en-US"/>
        </a:p>
      </dgm:t>
    </dgm:pt>
    <dgm:pt modelId="{FBF472B9-D9CD-4D79-B1C6-B0597CEE2C60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i="1" dirty="0">
              <a:latin typeface="Times New Roman"/>
              <a:ea typeface="+mn-ea"/>
              <a:cs typeface="Times New Roman"/>
            </a:rPr>
            <a:t>price </a:t>
          </a:r>
          <a:r>
            <a:rPr lang="en-US" sz="1400" b="1" i="1" dirty="0">
              <a:solidFill>
                <a:srgbClr val="000000"/>
              </a:solidFill>
              <a:latin typeface="Times New Roman"/>
              <a:ea typeface="Roboto"/>
              <a:cs typeface="Times New Roman"/>
            </a:rPr>
            <a:t>→ </a:t>
          </a:r>
          <a:r>
            <a:rPr lang="en-US" sz="1400" i="1" dirty="0">
              <a:solidFill>
                <a:srgbClr val="000000"/>
              </a:solidFill>
              <a:latin typeface="Times New Roman"/>
              <a:ea typeface="+mn-ea"/>
              <a:cs typeface="Times New Roman"/>
            </a:rPr>
            <a:t>Price of the listing per night in USD.</a:t>
          </a:r>
        </a:p>
      </dgm:t>
    </dgm:pt>
    <dgm:pt modelId="{5571C7B1-B5C5-49A9-BF4F-A95900986B7D}" type="parTrans" cxnId="{2683A6B4-0734-40DA-A5BF-D74D39CFAD78}">
      <dgm:prSet/>
      <dgm:spPr/>
    </dgm:pt>
    <dgm:pt modelId="{16D0AB27-F10A-4513-B934-07842F3A68EF}" type="sibTrans" cxnId="{2683A6B4-0734-40DA-A5BF-D74D39CFAD78}">
      <dgm:prSet/>
      <dgm:spPr/>
    </dgm:pt>
    <dgm:pt modelId="{988DE1D6-8912-45F6-A3EE-AC4C86680E5F}" type="pres">
      <dgm:prSet presAssocID="{4C61FA5A-93F5-413A-84AC-28F639EAAF09}" presName="linear" presStyleCnt="0">
        <dgm:presLayoutVars>
          <dgm:animLvl val="lvl"/>
          <dgm:resizeHandles val="exact"/>
        </dgm:presLayoutVars>
      </dgm:prSet>
      <dgm:spPr/>
    </dgm:pt>
    <dgm:pt modelId="{07A4312A-DD2B-4B48-B053-686AEFAD9A35}" type="pres">
      <dgm:prSet presAssocID="{DB064FE7-D91D-44B6-B2A3-235C14C290AA}" presName="parentText" presStyleLbl="node1" presStyleIdx="0" presStyleCnt="16">
        <dgm:presLayoutVars>
          <dgm:chMax val="0"/>
          <dgm:bulletEnabled val="1"/>
        </dgm:presLayoutVars>
      </dgm:prSet>
      <dgm:spPr/>
    </dgm:pt>
    <dgm:pt modelId="{440EA97D-D38B-4E74-86DC-3B72CBD05D70}" type="pres">
      <dgm:prSet presAssocID="{C940A001-23A9-4688-ACCE-21C94CB8A01D}" presName="spacer" presStyleCnt="0"/>
      <dgm:spPr/>
    </dgm:pt>
    <dgm:pt modelId="{FEE66596-13EC-4488-AC99-BB03718C5C9A}" type="pres">
      <dgm:prSet presAssocID="{65EBB1E4-2A22-4CD3-9A1F-D2EC148923A2}" presName="parentText" presStyleLbl="node1" presStyleIdx="1" presStyleCnt="16">
        <dgm:presLayoutVars>
          <dgm:chMax val="0"/>
          <dgm:bulletEnabled val="1"/>
        </dgm:presLayoutVars>
      </dgm:prSet>
      <dgm:spPr/>
    </dgm:pt>
    <dgm:pt modelId="{BA624DD0-9501-4C3F-8850-8C020AC42D8A}" type="pres">
      <dgm:prSet presAssocID="{7E66AD01-CC01-4A65-A529-B81A7570F05D}" presName="spacer" presStyleCnt="0"/>
      <dgm:spPr/>
    </dgm:pt>
    <dgm:pt modelId="{FB5CBCD7-E356-4DD2-B02B-CEF040FB471D}" type="pres">
      <dgm:prSet presAssocID="{261CB0C5-35F2-4F7F-924A-BE1F44C3F39C}" presName="parentText" presStyleLbl="node1" presStyleIdx="2" presStyleCnt="16">
        <dgm:presLayoutVars>
          <dgm:chMax val="0"/>
          <dgm:bulletEnabled val="1"/>
        </dgm:presLayoutVars>
      </dgm:prSet>
      <dgm:spPr/>
    </dgm:pt>
    <dgm:pt modelId="{4C17A572-38A0-416E-BDC0-762277D73252}" type="pres">
      <dgm:prSet presAssocID="{41ECC0A2-6A67-4BAD-A5EF-0574174FC6A8}" presName="spacer" presStyleCnt="0"/>
      <dgm:spPr/>
    </dgm:pt>
    <dgm:pt modelId="{5F070986-3069-4C80-8689-A36CE426950B}" type="pres">
      <dgm:prSet presAssocID="{1FCB9D68-C56A-417D-9B6D-77CDAD6F8946}" presName="parentText" presStyleLbl="node1" presStyleIdx="3" presStyleCnt="16">
        <dgm:presLayoutVars>
          <dgm:chMax val="0"/>
          <dgm:bulletEnabled val="1"/>
        </dgm:presLayoutVars>
      </dgm:prSet>
      <dgm:spPr/>
    </dgm:pt>
    <dgm:pt modelId="{F70F5E2F-2236-47E0-8E2A-D6C14AE5CF67}" type="pres">
      <dgm:prSet presAssocID="{90C6E0D9-C2AC-4A63-ADB3-169E282018DD}" presName="spacer" presStyleCnt="0"/>
      <dgm:spPr/>
    </dgm:pt>
    <dgm:pt modelId="{9D973B82-86B0-4EBB-93B2-3461B3DD073C}" type="pres">
      <dgm:prSet presAssocID="{0F256E20-08AF-4643-A55F-DED195BD1FE8}" presName="parentText" presStyleLbl="node1" presStyleIdx="4" presStyleCnt="16">
        <dgm:presLayoutVars>
          <dgm:chMax val="0"/>
          <dgm:bulletEnabled val="1"/>
        </dgm:presLayoutVars>
      </dgm:prSet>
      <dgm:spPr/>
    </dgm:pt>
    <dgm:pt modelId="{852B04F1-2053-4640-992C-E326BCA00440}" type="pres">
      <dgm:prSet presAssocID="{5AA02967-4201-4C81-83D4-AC6D3204F193}" presName="spacer" presStyleCnt="0"/>
      <dgm:spPr/>
    </dgm:pt>
    <dgm:pt modelId="{8A7939C7-6CFB-450F-82D8-1BDA96114CA3}" type="pres">
      <dgm:prSet presAssocID="{857A0749-8D39-4DFF-B87F-45D213D58D9F}" presName="parentText" presStyleLbl="node1" presStyleIdx="5" presStyleCnt="16">
        <dgm:presLayoutVars>
          <dgm:chMax val="0"/>
          <dgm:bulletEnabled val="1"/>
        </dgm:presLayoutVars>
      </dgm:prSet>
      <dgm:spPr/>
    </dgm:pt>
    <dgm:pt modelId="{3030406D-96A4-4B8E-A55C-69FE0A25A496}" type="pres">
      <dgm:prSet presAssocID="{6BD7845C-A98A-4A76-96E7-875B053220E3}" presName="spacer" presStyleCnt="0"/>
      <dgm:spPr/>
    </dgm:pt>
    <dgm:pt modelId="{409E8D54-C1EE-4703-941D-352CFD28398D}" type="pres">
      <dgm:prSet presAssocID="{5812E410-7DDE-494A-953D-721E20DF3F7A}" presName="parentText" presStyleLbl="node1" presStyleIdx="6" presStyleCnt="16">
        <dgm:presLayoutVars>
          <dgm:chMax val="0"/>
          <dgm:bulletEnabled val="1"/>
        </dgm:presLayoutVars>
      </dgm:prSet>
      <dgm:spPr/>
    </dgm:pt>
    <dgm:pt modelId="{1CCFD231-98DE-4A83-80CA-5D482DCBAE1A}" type="pres">
      <dgm:prSet presAssocID="{0FBC24AD-B97A-4AD4-88F2-63FE9598E95B}" presName="spacer" presStyleCnt="0"/>
      <dgm:spPr/>
    </dgm:pt>
    <dgm:pt modelId="{E0F19571-47C3-4EEB-AE0E-B62BCA82C885}" type="pres">
      <dgm:prSet presAssocID="{CB5407DC-D88D-4F3E-9460-15784A279172}" presName="parentText" presStyleLbl="node1" presStyleIdx="7" presStyleCnt="16">
        <dgm:presLayoutVars>
          <dgm:chMax val="0"/>
          <dgm:bulletEnabled val="1"/>
        </dgm:presLayoutVars>
      </dgm:prSet>
      <dgm:spPr/>
    </dgm:pt>
    <dgm:pt modelId="{DF746F26-C9DA-425D-B723-692BD2E5FB48}" type="pres">
      <dgm:prSet presAssocID="{E6439F85-5CCE-4207-9127-0531CF3B6973}" presName="spacer" presStyleCnt="0"/>
      <dgm:spPr/>
    </dgm:pt>
    <dgm:pt modelId="{95C63433-FA90-4A2E-9EEF-AEC5AE5FF882}" type="pres">
      <dgm:prSet presAssocID="{AA063F83-71FA-4BE5-B762-027D80730AF3}" presName="parentText" presStyleLbl="node1" presStyleIdx="8" presStyleCnt="16">
        <dgm:presLayoutVars>
          <dgm:chMax val="0"/>
          <dgm:bulletEnabled val="1"/>
        </dgm:presLayoutVars>
      </dgm:prSet>
      <dgm:spPr/>
    </dgm:pt>
    <dgm:pt modelId="{DB1B01AC-3477-47E5-9CB1-D56328860E9D}" type="pres">
      <dgm:prSet presAssocID="{3CF63372-E1BC-4BB5-9C66-CC7C8505BE7E}" presName="spacer" presStyleCnt="0"/>
      <dgm:spPr/>
    </dgm:pt>
    <dgm:pt modelId="{BCF6A535-D25D-45EF-8D87-5A6E7D82E0DA}" type="pres">
      <dgm:prSet presAssocID="{C9EC9FCD-3060-4796-B8B6-C4BBD5D18790}" presName="parentText" presStyleLbl="node1" presStyleIdx="9" presStyleCnt="16">
        <dgm:presLayoutVars>
          <dgm:chMax val="0"/>
          <dgm:bulletEnabled val="1"/>
        </dgm:presLayoutVars>
      </dgm:prSet>
      <dgm:spPr/>
    </dgm:pt>
    <dgm:pt modelId="{A42C72B3-F4C6-43C6-8A24-18B321CD9B27}" type="pres">
      <dgm:prSet presAssocID="{94E0C825-7AB5-4D6C-AEC4-D0E54999BF04}" presName="spacer" presStyleCnt="0"/>
      <dgm:spPr/>
    </dgm:pt>
    <dgm:pt modelId="{40CCCCF0-C781-4689-82B7-74B93045B4DD}" type="pres">
      <dgm:prSet presAssocID="{CCEB9BC1-E3C4-4AA4-8EEB-E5CD913C0FD0}" presName="parentText" presStyleLbl="node1" presStyleIdx="10" presStyleCnt="16">
        <dgm:presLayoutVars>
          <dgm:chMax val="0"/>
          <dgm:bulletEnabled val="1"/>
        </dgm:presLayoutVars>
      </dgm:prSet>
      <dgm:spPr/>
    </dgm:pt>
    <dgm:pt modelId="{A6350D99-54B4-4C64-A1F9-B4D3112B0E62}" type="pres">
      <dgm:prSet presAssocID="{F8A64888-A7F2-49F9-9FE3-840969ECC81F}" presName="spacer" presStyleCnt="0"/>
      <dgm:spPr/>
    </dgm:pt>
    <dgm:pt modelId="{1A0489BD-0AD3-41E0-88F5-96B232D074FD}" type="pres">
      <dgm:prSet presAssocID="{92108B0C-0889-4E92-A546-DE2D268C0B6C}" presName="parentText" presStyleLbl="node1" presStyleIdx="11" presStyleCnt="16">
        <dgm:presLayoutVars>
          <dgm:chMax val="0"/>
          <dgm:bulletEnabled val="1"/>
        </dgm:presLayoutVars>
      </dgm:prSet>
      <dgm:spPr/>
    </dgm:pt>
    <dgm:pt modelId="{A880CC02-9508-4B00-BC9A-88FC677371BA}" type="pres">
      <dgm:prSet presAssocID="{C3E5EFE8-7C43-41D9-A0A3-8C3DD0388B7E}" presName="spacer" presStyleCnt="0"/>
      <dgm:spPr/>
    </dgm:pt>
    <dgm:pt modelId="{9D2AAD15-8AAF-42C0-AC56-1C7D167586A9}" type="pres">
      <dgm:prSet presAssocID="{B5FC99B9-B0DC-4110-8E27-395F0B7F2D3F}" presName="parentText" presStyleLbl="node1" presStyleIdx="12" presStyleCnt="16">
        <dgm:presLayoutVars>
          <dgm:chMax val="0"/>
          <dgm:bulletEnabled val="1"/>
        </dgm:presLayoutVars>
      </dgm:prSet>
      <dgm:spPr/>
    </dgm:pt>
    <dgm:pt modelId="{3E0770E3-6983-41EA-85BF-282DD1FADBEA}" type="pres">
      <dgm:prSet presAssocID="{09269669-60AF-432A-82FC-DDF0E211BA0E}" presName="spacer" presStyleCnt="0"/>
      <dgm:spPr/>
    </dgm:pt>
    <dgm:pt modelId="{3AF86691-A179-4F3A-83C7-55A7E56820A9}" type="pres">
      <dgm:prSet presAssocID="{98AAF8D2-563B-4B4C-A08D-D4A31B2BBC39}" presName="parentText" presStyleLbl="node1" presStyleIdx="13" presStyleCnt="16">
        <dgm:presLayoutVars>
          <dgm:chMax val="0"/>
          <dgm:bulletEnabled val="1"/>
        </dgm:presLayoutVars>
      </dgm:prSet>
      <dgm:spPr/>
    </dgm:pt>
    <dgm:pt modelId="{E61F864E-C985-4CBB-8F70-39338EF93538}" type="pres">
      <dgm:prSet presAssocID="{78A58F53-398E-401D-B05C-24ECA39C256E}" presName="spacer" presStyleCnt="0"/>
      <dgm:spPr/>
    </dgm:pt>
    <dgm:pt modelId="{AA13EC00-1ABC-43CE-A56E-B7C7C214A4B9}" type="pres">
      <dgm:prSet presAssocID="{CBC14BFD-D8DB-4C4E-AD33-697DA26E3B4E}" presName="parentText" presStyleLbl="node1" presStyleIdx="14" presStyleCnt="16">
        <dgm:presLayoutVars>
          <dgm:chMax val="0"/>
          <dgm:bulletEnabled val="1"/>
        </dgm:presLayoutVars>
      </dgm:prSet>
      <dgm:spPr/>
    </dgm:pt>
    <dgm:pt modelId="{5610B69C-4461-4B4B-9E3C-770BDC4684C3}" type="pres">
      <dgm:prSet presAssocID="{38B8AE03-EEA2-4E69-A408-6A97C801488C}" presName="spacer" presStyleCnt="0"/>
      <dgm:spPr/>
    </dgm:pt>
    <dgm:pt modelId="{60B1B69C-0A6A-4F8B-B8F5-A4B05F93F77A}" type="pres">
      <dgm:prSet presAssocID="{FBF472B9-D9CD-4D79-B1C6-B0597CEE2C60}" presName="parentText" presStyleLbl="node1" presStyleIdx="15" presStyleCnt="16">
        <dgm:presLayoutVars>
          <dgm:chMax val="0"/>
          <dgm:bulletEnabled val="1"/>
        </dgm:presLayoutVars>
      </dgm:prSet>
      <dgm:spPr/>
    </dgm:pt>
  </dgm:ptLst>
  <dgm:cxnLst>
    <dgm:cxn modelId="{94885501-5E72-4EFC-BAC0-2E5960D92499}" srcId="{4C61FA5A-93F5-413A-84AC-28F639EAAF09}" destId="{DB064FE7-D91D-44B6-B2A3-235C14C290AA}" srcOrd="0" destOrd="0" parTransId="{524916A8-FD7C-4431-ABB9-14BF5E377BCA}" sibTransId="{C940A001-23A9-4688-ACCE-21C94CB8A01D}"/>
    <dgm:cxn modelId="{3E39C001-B7C5-412A-AFC9-D09876C2DBC9}" srcId="{4C61FA5A-93F5-413A-84AC-28F639EAAF09}" destId="{1FCB9D68-C56A-417D-9B6D-77CDAD6F8946}" srcOrd="3" destOrd="0" parTransId="{3BAE9906-08F8-47DD-82D9-8EA508AD36CB}" sibTransId="{90C6E0D9-C2AC-4A63-ADB3-169E282018DD}"/>
    <dgm:cxn modelId="{43BFEB02-0221-4174-B62D-87BE32F0B815}" srcId="{4C61FA5A-93F5-413A-84AC-28F639EAAF09}" destId="{5812E410-7DDE-494A-953D-721E20DF3F7A}" srcOrd="6" destOrd="0" parTransId="{6E72557F-9298-4FB0-8AB9-2B7F0C2EEAD2}" sibTransId="{0FBC24AD-B97A-4AD4-88F2-63FE9598E95B}"/>
    <dgm:cxn modelId="{41F83D08-82C0-4801-9635-682B3A4971F3}" type="presOf" srcId="{1FCB9D68-C56A-417D-9B6D-77CDAD6F8946}" destId="{5F070986-3069-4C80-8689-A36CE426950B}" srcOrd="0" destOrd="0" presId="urn:microsoft.com/office/officeart/2005/8/layout/vList2"/>
    <dgm:cxn modelId="{49753F0F-2989-450F-9243-305632A2CCBC}" srcId="{4C61FA5A-93F5-413A-84AC-28F639EAAF09}" destId="{CB5407DC-D88D-4F3E-9460-15784A279172}" srcOrd="7" destOrd="0" parTransId="{5C5440DC-A382-40C1-812D-098B3EEFB6FB}" sibTransId="{E6439F85-5CCE-4207-9127-0531CF3B6973}"/>
    <dgm:cxn modelId="{5F9C1A19-8089-4F36-9F78-A1920DCC8FB1}" type="presOf" srcId="{CBC14BFD-D8DB-4C4E-AD33-697DA26E3B4E}" destId="{AA13EC00-1ABC-43CE-A56E-B7C7C214A4B9}" srcOrd="0" destOrd="0" presId="urn:microsoft.com/office/officeart/2005/8/layout/vList2"/>
    <dgm:cxn modelId="{C7E0C71C-E8F0-4BB0-888B-A114693360DD}" type="presOf" srcId="{FBF472B9-D9CD-4D79-B1C6-B0597CEE2C60}" destId="{60B1B69C-0A6A-4F8B-B8F5-A4B05F93F77A}" srcOrd="0" destOrd="0" presId="urn:microsoft.com/office/officeart/2005/8/layout/vList2"/>
    <dgm:cxn modelId="{1FC7C72B-3401-4CD9-ADCB-E3B875C4FB9F}" type="presOf" srcId="{98AAF8D2-563B-4B4C-A08D-D4A31B2BBC39}" destId="{3AF86691-A179-4F3A-83C7-55A7E56820A9}" srcOrd="0" destOrd="0" presId="urn:microsoft.com/office/officeart/2005/8/layout/vList2"/>
    <dgm:cxn modelId="{2A2DC43E-8A71-43C1-8711-8D3E408DCC8A}" srcId="{4C61FA5A-93F5-413A-84AC-28F639EAAF09}" destId="{857A0749-8D39-4DFF-B87F-45D213D58D9F}" srcOrd="5" destOrd="0" parTransId="{6F79AEBC-8575-4872-81B5-8B2FAADD7883}" sibTransId="{6BD7845C-A98A-4A76-96E7-875B053220E3}"/>
    <dgm:cxn modelId="{A0ACFD44-A30F-4BB8-8CEB-54C93507280F}" type="presOf" srcId="{CCEB9BC1-E3C4-4AA4-8EEB-E5CD913C0FD0}" destId="{40CCCCF0-C781-4689-82B7-74B93045B4DD}" srcOrd="0" destOrd="0" presId="urn:microsoft.com/office/officeart/2005/8/layout/vList2"/>
    <dgm:cxn modelId="{12820146-1A3A-4186-9CAF-F78FE983E1A6}" srcId="{4C61FA5A-93F5-413A-84AC-28F639EAAF09}" destId="{261CB0C5-35F2-4F7F-924A-BE1F44C3F39C}" srcOrd="2" destOrd="0" parTransId="{26A56E7F-F912-4D77-B9E1-AD4B65306641}" sibTransId="{41ECC0A2-6A67-4BAD-A5EF-0574174FC6A8}"/>
    <dgm:cxn modelId="{5C509148-61D1-442F-8009-9E209B7244C2}" type="presOf" srcId="{261CB0C5-35F2-4F7F-924A-BE1F44C3F39C}" destId="{FB5CBCD7-E356-4DD2-B02B-CEF040FB471D}" srcOrd="0" destOrd="0" presId="urn:microsoft.com/office/officeart/2005/8/layout/vList2"/>
    <dgm:cxn modelId="{2AFC984E-81D6-459D-BE5B-9E43CC785F2F}" type="presOf" srcId="{B5FC99B9-B0DC-4110-8E27-395F0B7F2D3F}" destId="{9D2AAD15-8AAF-42C0-AC56-1C7D167586A9}" srcOrd="0" destOrd="0" presId="urn:microsoft.com/office/officeart/2005/8/layout/vList2"/>
    <dgm:cxn modelId="{AB64F44E-AA88-4DE8-A4D3-434D77D5D81E}" type="presOf" srcId="{5812E410-7DDE-494A-953D-721E20DF3F7A}" destId="{409E8D54-C1EE-4703-941D-352CFD28398D}" srcOrd="0" destOrd="0" presId="urn:microsoft.com/office/officeart/2005/8/layout/vList2"/>
    <dgm:cxn modelId="{29FA456F-B8BB-4CE5-AA82-FF926EA371D2}" type="presOf" srcId="{AA063F83-71FA-4BE5-B762-027D80730AF3}" destId="{95C63433-FA90-4A2E-9EEF-AEC5AE5FF882}" srcOrd="0" destOrd="0" presId="urn:microsoft.com/office/officeart/2005/8/layout/vList2"/>
    <dgm:cxn modelId="{82491776-870B-49DE-AD90-0A6CAF944922}" srcId="{4C61FA5A-93F5-413A-84AC-28F639EAAF09}" destId="{98AAF8D2-563B-4B4C-A08D-D4A31B2BBC39}" srcOrd="13" destOrd="0" parTransId="{CED37AB0-79CC-4A2E-8D0F-8DE3B734988C}" sibTransId="{78A58F53-398E-401D-B05C-24ECA39C256E}"/>
    <dgm:cxn modelId="{E124128B-ACA6-4920-A451-B132F5FF377D}" type="presOf" srcId="{C9EC9FCD-3060-4796-B8B6-C4BBD5D18790}" destId="{BCF6A535-D25D-45EF-8D87-5A6E7D82E0DA}" srcOrd="0" destOrd="0" presId="urn:microsoft.com/office/officeart/2005/8/layout/vList2"/>
    <dgm:cxn modelId="{A528688C-C123-4038-8D0E-8B832485F752}" srcId="{4C61FA5A-93F5-413A-84AC-28F639EAAF09}" destId="{CCEB9BC1-E3C4-4AA4-8EEB-E5CD913C0FD0}" srcOrd="10" destOrd="0" parTransId="{8239380D-9AE4-4884-A6ED-E7F8EF8A6BE7}" sibTransId="{F8A64888-A7F2-49F9-9FE3-840969ECC81F}"/>
    <dgm:cxn modelId="{5BC89FAC-581C-4AA6-A832-074C0881AC7E}" srcId="{4C61FA5A-93F5-413A-84AC-28F639EAAF09}" destId="{C9EC9FCD-3060-4796-B8B6-C4BBD5D18790}" srcOrd="9" destOrd="0" parTransId="{F2F090AE-9ACE-47CD-B00D-A2EEAB0EC89A}" sibTransId="{94E0C825-7AB5-4D6C-AEC4-D0E54999BF04}"/>
    <dgm:cxn modelId="{A2DD6DAD-A179-49FA-B949-5AC426953CC6}" srcId="{4C61FA5A-93F5-413A-84AC-28F639EAAF09}" destId="{B5FC99B9-B0DC-4110-8E27-395F0B7F2D3F}" srcOrd="12" destOrd="0" parTransId="{C84FE6AE-E68F-42CD-9720-71B011A35621}" sibTransId="{09269669-60AF-432A-82FC-DDF0E211BA0E}"/>
    <dgm:cxn modelId="{2683A6B4-0734-40DA-A5BF-D74D39CFAD78}" srcId="{4C61FA5A-93F5-413A-84AC-28F639EAAF09}" destId="{FBF472B9-D9CD-4D79-B1C6-B0597CEE2C60}" srcOrd="15" destOrd="0" parTransId="{5571C7B1-B5C5-49A9-BF4F-A95900986B7D}" sibTransId="{16D0AB27-F10A-4513-B934-07842F3A68EF}"/>
    <dgm:cxn modelId="{11BC3FBE-6341-46FC-B531-10BE8880FB8A}" srcId="{4C61FA5A-93F5-413A-84AC-28F639EAAF09}" destId="{92108B0C-0889-4E92-A546-DE2D268C0B6C}" srcOrd="11" destOrd="0" parTransId="{E33B79C9-211C-40B8-BBCF-BC183CE4FCFD}" sibTransId="{C3E5EFE8-7C43-41D9-A0A3-8C3DD0388B7E}"/>
    <dgm:cxn modelId="{2BBBF8C1-27B3-457C-934C-BD31B44D6904}" type="presOf" srcId="{857A0749-8D39-4DFF-B87F-45D213D58D9F}" destId="{8A7939C7-6CFB-450F-82D8-1BDA96114CA3}" srcOrd="0" destOrd="0" presId="urn:microsoft.com/office/officeart/2005/8/layout/vList2"/>
    <dgm:cxn modelId="{50F4E7C3-27B8-4978-B190-C5DB319F0D8D}" srcId="{4C61FA5A-93F5-413A-84AC-28F639EAAF09}" destId="{0F256E20-08AF-4643-A55F-DED195BD1FE8}" srcOrd="4" destOrd="0" parTransId="{45418B46-4D31-4742-89A1-E093D34B2448}" sibTransId="{5AA02967-4201-4C81-83D4-AC6D3204F193}"/>
    <dgm:cxn modelId="{90F05AC6-C5F5-4CF4-927E-B6C805436CE2}" type="presOf" srcId="{4C61FA5A-93F5-413A-84AC-28F639EAAF09}" destId="{988DE1D6-8912-45F6-A3EE-AC4C86680E5F}" srcOrd="0" destOrd="0" presId="urn:microsoft.com/office/officeart/2005/8/layout/vList2"/>
    <dgm:cxn modelId="{1B12B8CA-AE03-421B-84FD-E29A8E1D9BC5}" type="presOf" srcId="{CB5407DC-D88D-4F3E-9460-15784A279172}" destId="{E0F19571-47C3-4EEB-AE0E-B62BCA82C885}" srcOrd="0" destOrd="0" presId="urn:microsoft.com/office/officeart/2005/8/layout/vList2"/>
    <dgm:cxn modelId="{467ED4DA-6F8C-4D2E-AEC2-34840A5308B3}" srcId="{4C61FA5A-93F5-413A-84AC-28F639EAAF09}" destId="{CBC14BFD-D8DB-4C4E-AD33-697DA26E3B4E}" srcOrd="14" destOrd="0" parTransId="{429E92D4-B150-4731-A74E-842F0AA5CBAC}" sibTransId="{38B8AE03-EEA2-4E69-A408-6A97C801488C}"/>
    <dgm:cxn modelId="{DFCDE6E6-F12F-4F11-A999-EB8A7E9AA406}" srcId="{4C61FA5A-93F5-413A-84AC-28F639EAAF09}" destId="{65EBB1E4-2A22-4CD3-9A1F-D2EC148923A2}" srcOrd="1" destOrd="0" parTransId="{42DF1FA3-3E1A-410C-B551-15C80968635F}" sibTransId="{7E66AD01-CC01-4A65-A529-B81A7570F05D}"/>
    <dgm:cxn modelId="{2CE304E8-C12A-4629-B133-6C8594B9E694}" type="presOf" srcId="{92108B0C-0889-4E92-A546-DE2D268C0B6C}" destId="{1A0489BD-0AD3-41E0-88F5-96B232D074FD}" srcOrd="0" destOrd="0" presId="urn:microsoft.com/office/officeart/2005/8/layout/vList2"/>
    <dgm:cxn modelId="{399748F2-5286-45E1-BAF5-4900AC92D0A3}" srcId="{4C61FA5A-93F5-413A-84AC-28F639EAAF09}" destId="{AA063F83-71FA-4BE5-B762-027D80730AF3}" srcOrd="8" destOrd="0" parTransId="{8BB23C8C-F1CD-4D0D-9EFA-734D89AADFCC}" sibTransId="{3CF63372-E1BC-4BB5-9C66-CC7C8505BE7E}"/>
    <dgm:cxn modelId="{8FC2F5FA-CCB9-4207-A0A1-E53537CBA9AE}" type="presOf" srcId="{65EBB1E4-2A22-4CD3-9A1F-D2EC148923A2}" destId="{FEE66596-13EC-4488-AC99-BB03718C5C9A}" srcOrd="0" destOrd="0" presId="urn:microsoft.com/office/officeart/2005/8/layout/vList2"/>
    <dgm:cxn modelId="{109B55FB-8B6E-4D68-9A8E-2D18FC783D18}" type="presOf" srcId="{DB064FE7-D91D-44B6-B2A3-235C14C290AA}" destId="{07A4312A-DD2B-4B48-B053-686AEFAD9A35}" srcOrd="0" destOrd="0" presId="urn:microsoft.com/office/officeart/2005/8/layout/vList2"/>
    <dgm:cxn modelId="{EC98BEFC-4862-44B8-B698-91E69B8E6449}" type="presOf" srcId="{0F256E20-08AF-4643-A55F-DED195BD1FE8}" destId="{9D973B82-86B0-4EBB-93B2-3461B3DD073C}" srcOrd="0" destOrd="0" presId="urn:microsoft.com/office/officeart/2005/8/layout/vList2"/>
    <dgm:cxn modelId="{B39B7DEB-6405-4A6D-AFAB-7908812314AE}" type="presParOf" srcId="{988DE1D6-8912-45F6-A3EE-AC4C86680E5F}" destId="{07A4312A-DD2B-4B48-B053-686AEFAD9A35}" srcOrd="0" destOrd="0" presId="urn:microsoft.com/office/officeart/2005/8/layout/vList2"/>
    <dgm:cxn modelId="{DDF83976-7F38-480B-8498-DBCF08EF98C0}" type="presParOf" srcId="{988DE1D6-8912-45F6-A3EE-AC4C86680E5F}" destId="{440EA97D-D38B-4E74-86DC-3B72CBD05D70}" srcOrd="1" destOrd="0" presId="urn:microsoft.com/office/officeart/2005/8/layout/vList2"/>
    <dgm:cxn modelId="{A2FB68FD-AAC9-4F5F-998D-46B30BFE5042}" type="presParOf" srcId="{988DE1D6-8912-45F6-A3EE-AC4C86680E5F}" destId="{FEE66596-13EC-4488-AC99-BB03718C5C9A}" srcOrd="2" destOrd="0" presId="urn:microsoft.com/office/officeart/2005/8/layout/vList2"/>
    <dgm:cxn modelId="{7433ABC3-DBB3-4E0A-82DF-5F826C2F1B46}" type="presParOf" srcId="{988DE1D6-8912-45F6-A3EE-AC4C86680E5F}" destId="{BA624DD0-9501-4C3F-8850-8C020AC42D8A}" srcOrd="3" destOrd="0" presId="urn:microsoft.com/office/officeart/2005/8/layout/vList2"/>
    <dgm:cxn modelId="{D315D3C6-10DD-4C56-A61E-B5DEDB525B9B}" type="presParOf" srcId="{988DE1D6-8912-45F6-A3EE-AC4C86680E5F}" destId="{FB5CBCD7-E356-4DD2-B02B-CEF040FB471D}" srcOrd="4" destOrd="0" presId="urn:microsoft.com/office/officeart/2005/8/layout/vList2"/>
    <dgm:cxn modelId="{531640DF-A35B-4ABA-9CF3-8FA0682F3DB1}" type="presParOf" srcId="{988DE1D6-8912-45F6-A3EE-AC4C86680E5F}" destId="{4C17A572-38A0-416E-BDC0-762277D73252}" srcOrd="5" destOrd="0" presId="urn:microsoft.com/office/officeart/2005/8/layout/vList2"/>
    <dgm:cxn modelId="{CD048F6D-347C-454E-A52F-0D87876432AC}" type="presParOf" srcId="{988DE1D6-8912-45F6-A3EE-AC4C86680E5F}" destId="{5F070986-3069-4C80-8689-A36CE426950B}" srcOrd="6" destOrd="0" presId="urn:microsoft.com/office/officeart/2005/8/layout/vList2"/>
    <dgm:cxn modelId="{6B2FA92E-508E-43D3-9D4E-01D299E15580}" type="presParOf" srcId="{988DE1D6-8912-45F6-A3EE-AC4C86680E5F}" destId="{F70F5E2F-2236-47E0-8E2A-D6C14AE5CF67}" srcOrd="7" destOrd="0" presId="urn:microsoft.com/office/officeart/2005/8/layout/vList2"/>
    <dgm:cxn modelId="{4D887253-30AB-430D-A83A-4CAADF250994}" type="presParOf" srcId="{988DE1D6-8912-45F6-A3EE-AC4C86680E5F}" destId="{9D973B82-86B0-4EBB-93B2-3461B3DD073C}" srcOrd="8" destOrd="0" presId="urn:microsoft.com/office/officeart/2005/8/layout/vList2"/>
    <dgm:cxn modelId="{93AF7564-DF34-4FA5-863E-1153C701ABEE}" type="presParOf" srcId="{988DE1D6-8912-45F6-A3EE-AC4C86680E5F}" destId="{852B04F1-2053-4640-992C-E326BCA00440}" srcOrd="9" destOrd="0" presId="urn:microsoft.com/office/officeart/2005/8/layout/vList2"/>
    <dgm:cxn modelId="{10F3C8FE-72B9-4A2A-9B4D-A88C30C7A8A3}" type="presParOf" srcId="{988DE1D6-8912-45F6-A3EE-AC4C86680E5F}" destId="{8A7939C7-6CFB-450F-82D8-1BDA96114CA3}" srcOrd="10" destOrd="0" presId="urn:microsoft.com/office/officeart/2005/8/layout/vList2"/>
    <dgm:cxn modelId="{A0ECF2EE-0E68-4105-A4BD-6A90A3F2FA2D}" type="presParOf" srcId="{988DE1D6-8912-45F6-A3EE-AC4C86680E5F}" destId="{3030406D-96A4-4B8E-A55C-69FE0A25A496}" srcOrd="11" destOrd="0" presId="urn:microsoft.com/office/officeart/2005/8/layout/vList2"/>
    <dgm:cxn modelId="{4C79E18E-E16D-46A1-A03D-47AE8476EF41}" type="presParOf" srcId="{988DE1D6-8912-45F6-A3EE-AC4C86680E5F}" destId="{409E8D54-C1EE-4703-941D-352CFD28398D}" srcOrd="12" destOrd="0" presId="urn:microsoft.com/office/officeart/2005/8/layout/vList2"/>
    <dgm:cxn modelId="{7242CFF2-5148-4EFC-820C-480BC15E672A}" type="presParOf" srcId="{988DE1D6-8912-45F6-A3EE-AC4C86680E5F}" destId="{1CCFD231-98DE-4A83-80CA-5D482DCBAE1A}" srcOrd="13" destOrd="0" presId="urn:microsoft.com/office/officeart/2005/8/layout/vList2"/>
    <dgm:cxn modelId="{CE3FA872-F558-4EBD-BD46-7815F8C854ED}" type="presParOf" srcId="{988DE1D6-8912-45F6-A3EE-AC4C86680E5F}" destId="{E0F19571-47C3-4EEB-AE0E-B62BCA82C885}" srcOrd="14" destOrd="0" presId="urn:microsoft.com/office/officeart/2005/8/layout/vList2"/>
    <dgm:cxn modelId="{808DEC82-8302-46A2-992F-496A639980CD}" type="presParOf" srcId="{988DE1D6-8912-45F6-A3EE-AC4C86680E5F}" destId="{DF746F26-C9DA-425D-B723-692BD2E5FB48}" srcOrd="15" destOrd="0" presId="urn:microsoft.com/office/officeart/2005/8/layout/vList2"/>
    <dgm:cxn modelId="{98853BEA-390B-473D-9D24-AD4EF4DDECBD}" type="presParOf" srcId="{988DE1D6-8912-45F6-A3EE-AC4C86680E5F}" destId="{95C63433-FA90-4A2E-9EEF-AEC5AE5FF882}" srcOrd="16" destOrd="0" presId="urn:microsoft.com/office/officeart/2005/8/layout/vList2"/>
    <dgm:cxn modelId="{F9D15691-17D6-4421-9CD9-E76C93DD2B03}" type="presParOf" srcId="{988DE1D6-8912-45F6-A3EE-AC4C86680E5F}" destId="{DB1B01AC-3477-47E5-9CB1-D56328860E9D}" srcOrd="17" destOrd="0" presId="urn:microsoft.com/office/officeart/2005/8/layout/vList2"/>
    <dgm:cxn modelId="{DB5ED524-3C33-4D2E-AFB9-E6FFCE5B7364}" type="presParOf" srcId="{988DE1D6-8912-45F6-A3EE-AC4C86680E5F}" destId="{BCF6A535-D25D-45EF-8D87-5A6E7D82E0DA}" srcOrd="18" destOrd="0" presId="urn:microsoft.com/office/officeart/2005/8/layout/vList2"/>
    <dgm:cxn modelId="{2FE49B7F-FDA9-46EB-B8E0-3254AD41DD68}" type="presParOf" srcId="{988DE1D6-8912-45F6-A3EE-AC4C86680E5F}" destId="{A42C72B3-F4C6-43C6-8A24-18B321CD9B27}" srcOrd="19" destOrd="0" presId="urn:microsoft.com/office/officeart/2005/8/layout/vList2"/>
    <dgm:cxn modelId="{7E2BAFE8-CCF8-4E33-8F23-8B7208C3EBD5}" type="presParOf" srcId="{988DE1D6-8912-45F6-A3EE-AC4C86680E5F}" destId="{40CCCCF0-C781-4689-82B7-74B93045B4DD}" srcOrd="20" destOrd="0" presId="urn:microsoft.com/office/officeart/2005/8/layout/vList2"/>
    <dgm:cxn modelId="{923CDA6D-07C7-4FBB-B4D1-E607CB56C391}" type="presParOf" srcId="{988DE1D6-8912-45F6-A3EE-AC4C86680E5F}" destId="{A6350D99-54B4-4C64-A1F9-B4D3112B0E62}" srcOrd="21" destOrd="0" presId="urn:microsoft.com/office/officeart/2005/8/layout/vList2"/>
    <dgm:cxn modelId="{E3487BBA-3C3D-4765-9EEB-F814E49CE1E7}" type="presParOf" srcId="{988DE1D6-8912-45F6-A3EE-AC4C86680E5F}" destId="{1A0489BD-0AD3-41E0-88F5-96B232D074FD}" srcOrd="22" destOrd="0" presId="urn:microsoft.com/office/officeart/2005/8/layout/vList2"/>
    <dgm:cxn modelId="{6880E59A-76BB-412C-8F9E-EEFF711F1EAB}" type="presParOf" srcId="{988DE1D6-8912-45F6-A3EE-AC4C86680E5F}" destId="{A880CC02-9508-4B00-BC9A-88FC677371BA}" srcOrd="23" destOrd="0" presId="urn:microsoft.com/office/officeart/2005/8/layout/vList2"/>
    <dgm:cxn modelId="{665F10FC-2B3C-44D7-A6C3-FEDD24E9D143}" type="presParOf" srcId="{988DE1D6-8912-45F6-A3EE-AC4C86680E5F}" destId="{9D2AAD15-8AAF-42C0-AC56-1C7D167586A9}" srcOrd="24" destOrd="0" presId="urn:microsoft.com/office/officeart/2005/8/layout/vList2"/>
    <dgm:cxn modelId="{DFACDE45-F60D-45B8-A77A-6712C4DDFE16}" type="presParOf" srcId="{988DE1D6-8912-45F6-A3EE-AC4C86680E5F}" destId="{3E0770E3-6983-41EA-85BF-282DD1FADBEA}" srcOrd="25" destOrd="0" presId="urn:microsoft.com/office/officeart/2005/8/layout/vList2"/>
    <dgm:cxn modelId="{E01722DD-3B19-4451-A6A2-0599925C73F2}" type="presParOf" srcId="{988DE1D6-8912-45F6-A3EE-AC4C86680E5F}" destId="{3AF86691-A179-4F3A-83C7-55A7E56820A9}" srcOrd="26" destOrd="0" presId="urn:microsoft.com/office/officeart/2005/8/layout/vList2"/>
    <dgm:cxn modelId="{CA66A3F0-4F86-4901-8FF3-BAB4171E8CE8}" type="presParOf" srcId="{988DE1D6-8912-45F6-A3EE-AC4C86680E5F}" destId="{E61F864E-C985-4CBB-8F70-39338EF93538}" srcOrd="27" destOrd="0" presId="urn:microsoft.com/office/officeart/2005/8/layout/vList2"/>
    <dgm:cxn modelId="{7ADF699C-8DE3-4761-A7D3-DA464908424A}" type="presParOf" srcId="{988DE1D6-8912-45F6-A3EE-AC4C86680E5F}" destId="{AA13EC00-1ABC-43CE-A56E-B7C7C214A4B9}" srcOrd="28" destOrd="0" presId="urn:microsoft.com/office/officeart/2005/8/layout/vList2"/>
    <dgm:cxn modelId="{CF4BAF1D-351D-4906-B7B6-CEADAD9FB279}" type="presParOf" srcId="{988DE1D6-8912-45F6-A3EE-AC4C86680E5F}" destId="{5610B69C-4461-4B4B-9E3C-770BDC4684C3}" srcOrd="29" destOrd="0" presId="urn:microsoft.com/office/officeart/2005/8/layout/vList2"/>
    <dgm:cxn modelId="{B544AE50-F58D-4B59-8922-096314D5B878}" type="presParOf" srcId="{988DE1D6-8912-45F6-A3EE-AC4C86680E5F}" destId="{60B1B69C-0A6A-4F8B-B8F5-A4B05F93F77A}" srcOrd="3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A4312A-DD2B-4B48-B053-686AEFAD9A35}">
      <dsp:nvSpPr>
        <dsp:cNvPr id="0" name=""/>
        <dsp:cNvSpPr/>
      </dsp:nvSpPr>
      <dsp:spPr>
        <a:xfrm>
          <a:off x="0" y="2540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id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</a:t>
          </a:r>
          <a:r>
            <a:rPr lang="en-US" sz="1400" b="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Unique identifier for each Airbnb listing.</a:t>
          </a:r>
          <a:endParaRPr lang="en-US" sz="1400" b="1" i="1" kern="1200" dirty="0">
            <a:latin typeface="Times New Roman"/>
            <a:ea typeface="+mn-ea"/>
            <a:cs typeface="Times New Roman"/>
          </a:endParaRPr>
        </a:p>
      </dsp:txBody>
      <dsp:txXfrm>
        <a:off x="19756" y="22296"/>
        <a:ext cx="6622645" cy="365189"/>
      </dsp:txXfrm>
    </dsp:sp>
    <dsp:sp modelId="{FEE66596-13EC-4488-AC99-BB03718C5C9A}">
      <dsp:nvSpPr>
        <dsp:cNvPr id="0" name=""/>
        <dsp:cNvSpPr/>
      </dsp:nvSpPr>
      <dsp:spPr>
        <a:xfrm>
          <a:off x="0" y="421473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6066"/>
                <a:satOff val="495"/>
                <a:lumOff val="120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6066"/>
                <a:satOff val="495"/>
                <a:lumOff val="120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6066"/>
                <a:satOff val="495"/>
                <a:lumOff val="120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name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Name/title of the Airbnb listing.</a:t>
          </a:r>
        </a:p>
      </dsp:txBody>
      <dsp:txXfrm>
        <a:off x="19756" y="441229"/>
        <a:ext cx="6622645" cy="365189"/>
      </dsp:txXfrm>
    </dsp:sp>
    <dsp:sp modelId="{FB5CBCD7-E356-4DD2-B02B-CEF040FB471D}">
      <dsp:nvSpPr>
        <dsp:cNvPr id="0" name=""/>
        <dsp:cNvSpPr/>
      </dsp:nvSpPr>
      <dsp:spPr>
        <a:xfrm>
          <a:off x="0" y="840405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12132"/>
                <a:satOff val="989"/>
                <a:lumOff val="241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12132"/>
                <a:satOff val="989"/>
                <a:lumOff val="241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12132"/>
                <a:satOff val="989"/>
                <a:lumOff val="241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host_id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Unique identifier of the host who owns/manages the listing.</a:t>
          </a:r>
        </a:p>
      </dsp:txBody>
      <dsp:txXfrm>
        <a:off x="19756" y="860161"/>
        <a:ext cx="6622645" cy="365189"/>
      </dsp:txXfrm>
    </dsp:sp>
    <dsp:sp modelId="{5F070986-3069-4C80-8689-A36CE426950B}">
      <dsp:nvSpPr>
        <dsp:cNvPr id="0" name=""/>
        <dsp:cNvSpPr/>
      </dsp:nvSpPr>
      <dsp:spPr>
        <a:xfrm>
          <a:off x="0" y="1259338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18198"/>
                <a:satOff val="1484"/>
                <a:lumOff val="3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18198"/>
                <a:satOff val="1484"/>
                <a:lumOff val="3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18198"/>
                <a:satOff val="1484"/>
                <a:lumOff val="3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host_name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Name of the host.</a:t>
          </a:r>
          <a:endParaRPr lang="en-US" sz="1400" b="1" i="1" kern="1200" dirty="0">
            <a:latin typeface="Times New Roman"/>
            <a:ea typeface="+mn-ea"/>
            <a:cs typeface="Times New Roman"/>
          </a:endParaRPr>
        </a:p>
      </dsp:txBody>
      <dsp:txXfrm>
        <a:off x="19756" y="1279094"/>
        <a:ext cx="6622645" cy="365189"/>
      </dsp:txXfrm>
    </dsp:sp>
    <dsp:sp modelId="{9D973B82-86B0-4EBB-93B2-3461B3DD073C}">
      <dsp:nvSpPr>
        <dsp:cNvPr id="0" name=""/>
        <dsp:cNvSpPr/>
      </dsp:nvSpPr>
      <dsp:spPr>
        <a:xfrm>
          <a:off x="0" y="1678270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24264"/>
                <a:satOff val="1979"/>
                <a:lumOff val="483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24264"/>
                <a:satOff val="1979"/>
                <a:lumOff val="483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24264"/>
                <a:satOff val="1979"/>
                <a:lumOff val="483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neighbourhood_group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The larger NYC Place(</a:t>
          </a:r>
          <a:r>
            <a:rPr lang="en-US" sz="1400" i="1" kern="1200" dirty="0" err="1">
              <a:latin typeface="Times New Roman"/>
              <a:ea typeface="+mn-ea"/>
              <a:cs typeface="Times New Roman"/>
            </a:rPr>
            <a:t>Neighbourhood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) where the listing is located: Manhattan, Brooklyn, Queens, Bronx, or Staten Island.</a:t>
          </a:r>
        </a:p>
      </dsp:txBody>
      <dsp:txXfrm>
        <a:off x="19756" y="1698026"/>
        <a:ext cx="6622645" cy="365189"/>
      </dsp:txXfrm>
    </dsp:sp>
    <dsp:sp modelId="{8A7939C7-6CFB-450F-82D8-1BDA96114CA3}">
      <dsp:nvSpPr>
        <dsp:cNvPr id="0" name=""/>
        <dsp:cNvSpPr/>
      </dsp:nvSpPr>
      <dsp:spPr>
        <a:xfrm>
          <a:off x="0" y="2097202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30330"/>
                <a:satOff val="2473"/>
                <a:lumOff val="604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30330"/>
                <a:satOff val="2473"/>
                <a:lumOff val="604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30330"/>
                <a:satOff val="2473"/>
                <a:lumOff val="604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neighbourhood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The specific neighborhood where the listing is located.</a:t>
          </a:r>
        </a:p>
      </dsp:txBody>
      <dsp:txXfrm>
        <a:off x="19756" y="2116958"/>
        <a:ext cx="6622645" cy="365189"/>
      </dsp:txXfrm>
    </dsp:sp>
    <dsp:sp modelId="{409E8D54-C1EE-4703-941D-352CFD28398D}">
      <dsp:nvSpPr>
        <dsp:cNvPr id="0" name=""/>
        <dsp:cNvSpPr/>
      </dsp:nvSpPr>
      <dsp:spPr>
        <a:xfrm>
          <a:off x="0" y="2516135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36396"/>
                <a:satOff val="2968"/>
                <a:lumOff val="725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36396"/>
                <a:satOff val="2968"/>
                <a:lumOff val="725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36396"/>
                <a:satOff val="2968"/>
                <a:lumOff val="725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latitude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 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 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Geographic latitude of the listing.</a:t>
          </a:r>
          <a:endParaRPr lang="en-US" sz="1400" b="0" i="1" kern="1200" dirty="0">
            <a:latin typeface="Times New Roman"/>
            <a:ea typeface="+mn-ea"/>
            <a:cs typeface="Times New Roman"/>
          </a:endParaRPr>
        </a:p>
      </dsp:txBody>
      <dsp:txXfrm>
        <a:off x="19756" y="2535891"/>
        <a:ext cx="6622645" cy="365189"/>
      </dsp:txXfrm>
    </dsp:sp>
    <dsp:sp modelId="{E0F19571-47C3-4EEB-AE0E-B62BCA82C885}">
      <dsp:nvSpPr>
        <dsp:cNvPr id="0" name=""/>
        <dsp:cNvSpPr/>
      </dsp:nvSpPr>
      <dsp:spPr>
        <a:xfrm>
          <a:off x="0" y="2935067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42462"/>
                <a:satOff val="3463"/>
                <a:lumOff val="846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42462"/>
                <a:satOff val="3463"/>
                <a:lumOff val="846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42462"/>
                <a:satOff val="3463"/>
                <a:lumOff val="846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longitude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 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 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Geographic longitude of the listing.</a:t>
          </a:r>
          <a:endParaRPr lang="en-US" sz="1400" b="1" i="1" kern="1200" dirty="0">
            <a:latin typeface="Times New Roman"/>
            <a:ea typeface="+mn-ea"/>
            <a:cs typeface="Times New Roman"/>
          </a:endParaRPr>
        </a:p>
      </dsp:txBody>
      <dsp:txXfrm>
        <a:off x="19756" y="2954823"/>
        <a:ext cx="6622645" cy="365189"/>
      </dsp:txXfrm>
    </dsp:sp>
    <dsp:sp modelId="{95C63433-FA90-4A2E-9EEF-AEC5AE5FF882}">
      <dsp:nvSpPr>
        <dsp:cNvPr id="0" name=""/>
        <dsp:cNvSpPr/>
      </dsp:nvSpPr>
      <dsp:spPr>
        <a:xfrm>
          <a:off x="0" y="3354000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48529"/>
                <a:satOff val="3957"/>
                <a:lumOff val="967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48529"/>
                <a:satOff val="3957"/>
                <a:lumOff val="967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48529"/>
                <a:satOff val="3957"/>
                <a:lumOff val="967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room_type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Type of accommodation offered: Entire home/apt, Private room, or Shared room.</a:t>
          </a:r>
        </a:p>
      </dsp:txBody>
      <dsp:txXfrm>
        <a:off x="19756" y="3373756"/>
        <a:ext cx="6622645" cy="365189"/>
      </dsp:txXfrm>
    </dsp:sp>
    <dsp:sp modelId="{BCF6A535-D25D-45EF-8D87-5A6E7D82E0DA}">
      <dsp:nvSpPr>
        <dsp:cNvPr id="0" name=""/>
        <dsp:cNvSpPr/>
      </dsp:nvSpPr>
      <dsp:spPr>
        <a:xfrm>
          <a:off x="0" y="3772932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54595"/>
                <a:satOff val="4452"/>
                <a:lumOff val="1088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54595"/>
                <a:satOff val="4452"/>
                <a:lumOff val="1088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54595"/>
                <a:satOff val="4452"/>
                <a:lumOff val="1088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 err="1">
              <a:latin typeface="Times New Roman"/>
              <a:ea typeface="+mn-ea"/>
              <a:cs typeface="Times New Roman"/>
            </a:rPr>
            <a:t>minimum_nights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 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 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number of nights that a guest must book.</a:t>
          </a:r>
        </a:p>
      </dsp:txBody>
      <dsp:txXfrm>
        <a:off x="19756" y="3792688"/>
        <a:ext cx="6622645" cy="365189"/>
      </dsp:txXfrm>
    </dsp:sp>
    <dsp:sp modelId="{40CCCCF0-C781-4689-82B7-74B93045B4DD}">
      <dsp:nvSpPr>
        <dsp:cNvPr id="0" name=""/>
        <dsp:cNvSpPr/>
      </dsp:nvSpPr>
      <dsp:spPr>
        <a:xfrm>
          <a:off x="0" y="4191864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60661"/>
                <a:satOff val="4947"/>
                <a:lumOff val="1209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60661"/>
                <a:satOff val="4947"/>
                <a:lumOff val="1209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60661"/>
                <a:satOff val="4947"/>
                <a:lumOff val="1209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number_of_reviews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Total number of reviews received by the listing.</a:t>
          </a:r>
        </a:p>
      </dsp:txBody>
      <dsp:txXfrm>
        <a:off x="19756" y="4211620"/>
        <a:ext cx="6622645" cy="365189"/>
      </dsp:txXfrm>
    </dsp:sp>
    <dsp:sp modelId="{1A0489BD-0AD3-41E0-88F5-96B232D074FD}">
      <dsp:nvSpPr>
        <dsp:cNvPr id="0" name=""/>
        <dsp:cNvSpPr/>
      </dsp:nvSpPr>
      <dsp:spPr>
        <a:xfrm>
          <a:off x="0" y="4610797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66727"/>
                <a:satOff val="5441"/>
                <a:lumOff val="1330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66727"/>
                <a:satOff val="5441"/>
                <a:lumOff val="1330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66727"/>
                <a:satOff val="5441"/>
                <a:lumOff val="1330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last_review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Date of the most recent review for the listing.</a:t>
          </a:r>
        </a:p>
      </dsp:txBody>
      <dsp:txXfrm>
        <a:off x="19756" y="4630553"/>
        <a:ext cx="6622645" cy="365189"/>
      </dsp:txXfrm>
    </dsp:sp>
    <dsp:sp modelId="{9D2AAD15-8AAF-42C0-AC56-1C7D167586A9}">
      <dsp:nvSpPr>
        <dsp:cNvPr id="0" name=""/>
        <dsp:cNvSpPr/>
      </dsp:nvSpPr>
      <dsp:spPr>
        <a:xfrm>
          <a:off x="0" y="5029729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72793"/>
                <a:satOff val="5936"/>
                <a:lumOff val="1451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72793"/>
                <a:satOff val="5936"/>
                <a:lumOff val="1451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72793"/>
                <a:satOff val="5936"/>
                <a:lumOff val="1451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reviews_per_month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Average number of reviews received per month.</a:t>
          </a:r>
        </a:p>
      </dsp:txBody>
      <dsp:txXfrm>
        <a:off x="19756" y="5049485"/>
        <a:ext cx="6622645" cy="365189"/>
      </dsp:txXfrm>
    </dsp:sp>
    <dsp:sp modelId="{3AF86691-A179-4F3A-83C7-55A7E56820A9}">
      <dsp:nvSpPr>
        <dsp:cNvPr id="0" name=""/>
        <dsp:cNvSpPr/>
      </dsp:nvSpPr>
      <dsp:spPr>
        <a:xfrm>
          <a:off x="0" y="5448662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78859"/>
                <a:satOff val="6431"/>
                <a:lumOff val="1572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78859"/>
                <a:satOff val="6431"/>
                <a:lumOff val="1572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78859"/>
                <a:satOff val="6431"/>
                <a:lumOff val="1572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calculated_host_listings_count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Number of Airbnb listings associated with that host.</a:t>
          </a:r>
          <a:endParaRPr lang="en-US" sz="1400" b="0" i="1" kern="1200" dirty="0">
            <a:latin typeface="Times New Roman"/>
            <a:ea typeface="+mn-ea"/>
            <a:cs typeface="Times New Roman"/>
          </a:endParaRPr>
        </a:p>
      </dsp:txBody>
      <dsp:txXfrm>
        <a:off x="19756" y="5468418"/>
        <a:ext cx="6622645" cy="365189"/>
      </dsp:txXfrm>
    </dsp:sp>
    <dsp:sp modelId="{AA13EC00-1ABC-43CE-A56E-B7C7C214A4B9}">
      <dsp:nvSpPr>
        <dsp:cNvPr id="0" name=""/>
        <dsp:cNvSpPr/>
      </dsp:nvSpPr>
      <dsp:spPr>
        <a:xfrm>
          <a:off x="0" y="5867594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84925"/>
                <a:satOff val="6925"/>
                <a:lumOff val="1693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84925"/>
                <a:satOff val="6925"/>
                <a:lumOff val="1693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84925"/>
                <a:satOff val="6925"/>
                <a:lumOff val="1693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availability_365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</a:t>
          </a:r>
          <a:r>
            <a:rPr lang="en-US" sz="1400" b="1" i="1" kern="1200" dirty="0">
              <a:latin typeface="Times New Roman"/>
              <a:ea typeface="Roboto"/>
              <a:cs typeface="Times New Roman"/>
            </a:rPr>
            <a:t>→</a:t>
          </a:r>
          <a:r>
            <a:rPr lang="en-US" sz="1400" i="1" kern="1200" dirty="0">
              <a:latin typeface="Times New Roman"/>
              <a:ea typeface="+mn-ea"/>
              <a:cs typeface="Times New Roman"/>
            </a:rPr>
            <a:t> Number of days during the year that the listing is available for booking, from 0 to 365 </a:t>
          </a:r>
        </a:p>
      </dsp:txBody>
      <dsp:txXfrm>
        <a:off x="19756" y="5887350"/>
        <a:ext cx="6622645" cy="365189"/>
      </dsp:txXfrm>
    </dsp:sp>
    <dsp:sp modelId="{60B1B69C-0A6A-4F8B-B8F5-A4B05F93F77A}">
      <dsp:nvSpPr>
        <dsp:cNvPr id="0" name=""/>
        <dsp:cNvSpPr/>
      </dsp:nvSpPr>
      <dsp:spPr>
        <a:xfrm>
          <a:off x="0" y="6286527"/>
          <a:ext cx="6662157" cy="404701"/>
        </a:xfrm>
        <a:prstGeom prst="roundRect">
          <a:avLst/>
        </a:prstGeom>
        <a:gradFill rotWithShape="0">
          <a:gsLst>
            <a:gs pos="0">
              <a:schemeClr val="accent2">
                <a:shade val="80000"/>
                <a:hueOff val="-90991"/>
                <a:satOff val="7420"/>
                <a:lumOff val="1814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shade val="80000"/>
                <a:hueOff val="-90991"/>
                <a:satOff val="7420"/>
                <a:lumOff val="1814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shade val="80000"/>
                <a:hueOff val="-90991"/>
                <a:satOff val="7420"/>
                <a:lumOff val="1814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 dirty="0">
              <a:latin typeface="Times New Roman"/>
              <a:ea typeface="+mn-ea"/>
              <a:cs typeface="Times New Roman"/>
            </a:rPr>
            <a:t>price </a:t>
          </a:r>
          <a:r>
            <a:rPr lang="en-US" sz="1400" b="1" i="1" kern="1200" dirty="0">
              <a:solidFill>
                <a:srgbClr val="000000"/>
              </a:solidFill>
              <a:latin typeface="Times New Roman"/>
              <a:ea typeface="Roboto"/>
              <a:cs typeface="Times New Roman"/>
            </a:rPr>
            <a:t>→ </a:t>
          </a:r>
          <a:r>
            <a:rPr lang="en-US" sz="1400" i="1" kern="1200" dirty="0">
              <a:solidFill>
                <a:srgbClr val="000000"/>
              </a:solidFill>
              <a:latin typeface="Times New Roman"/>
              <a:ea typeface="+mn-ea"/>
              <a:cs typeface="Times New Roman"/>
            </a:rPr>
            <a:t>Price of the listing per night in USD.</a:t>
          </a:r>
        </a:p>
      </dsp:txBody>
      <dsp:txXfrm>
        <a:off x="19756" y="6306283"/>
        <a:ext cx="6622645" cy="3651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642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312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288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9447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48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8570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9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888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972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654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656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43" r:id="rId6"/>
    <p:sldLayoutId id="2147483739" r:id="rId7"/>
    <p:sldLayoutId id="2147483740" r:id="rId8"/>
    <p:sldLayoutId id="2147483741" r:id="rId9"/>
    <p:sldLayoutId id="2147483742" r:id="rId10"/>
    <p:sldLayoutId id="214748374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Islam-Yousri/EDA_airbnb-NYC/blob/main/presentation-link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da-nycairbnb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076" y="628917"/>
            <a:ext cx="6288289" cy="145509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300"/>
              <a:t>EDA Of Airbnb(NYC)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Does Dataset Contain , What Patterns Had Been Extracted Helping Me  For Further ML Modelling 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6CDDC4-2C5B-8E21-569D-602B4BC6D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780" y="553415"/>
            <a:ext cx="5660211" cy="566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35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2D9A1-0084-C93C-C072-73A51A642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6B36B70C-21B1-4A90-1CAC-0C8A655A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8CD0E7F-A826-5072-FD93-AF4437AAC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CB9FCBB-BA49-8B63-476B-A63C6A69C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8A0CBF9-02EA-BE86-35FF-3DBFAC49E4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B31BC1-C766-B304-1968-AFBBE1164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3D5DF6DD-715B-B876-9125-8C30BB0EBF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5">
              <a:extLst>
                <a:ext uri="{FF2B5EF4-FFF2-40B4-BE49-F238E27FC236}">
                  <a16:creationId xmlns:a16="http://schemas.microsoft.com/office/drawing/2014/main" id="{60B718FB-ADB4-BD9E-AA37-1BC9E6965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5">
              <a:extLst>
                <a:ext uri="{FF2B5EF4-FFF2-40B4-BE49-F238E27FC236}">
                  <a16:creationId xmlns:a16="http://schemas.microsoft.com/office/drawing/2014/main" id="{AF0ECD93-8658-7719-CE72-705939670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48C3CE-5748-DB68-9F8C-B2EC86B36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B2ABE3E1-4F78-3549-09A6-7900908F5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0" name="Graphic 78">
            <a:extLst>
              <a:ext uri="{FF2B5EF4-FFF2-40B4-BE49-F238E27FC236}">
                <a16:creationId xmlns:a16="http://schemas.microsoft.com/office/drawing/2014/main" id="{40D495F0-AC2C-A72D-E007-3D3BBB4D8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1" name="Graphic 78">
              <a:extLst>
                <a:ext uri="{FF2B5EF4-FFF2-40B4-BE49-F238E27FC236}">
                  <a16:creationId xmlns:a16="http://schemas.microsoft.com/office/drawing/2014/main" id="{FCFD5551-7508-D314-40C1-5FC3584CC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aphic 78">
              <a:extLst>
                <a:ext uri="{FF2B5EF4-FFF2-40B4-BE49-F238E27FC236}">
                  <a16:creationId xmlns:a16="http://schemas.microsoft.com/office/drawing/2014/main" id="{94021E60-D7BF-483F-BB48-98A0401D3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4" name="Graphic 78">
                <a:extLst>
                  <a:ext uri="{FF2B5EF4-FFF2-40B4-BE49-F238E27FC236}">
                    <a16:creationId xmlns:a16="http://schemas.microsoft.com/office/drawing/2014/main" id="{868AB494-842C-360F-2542-481D746F84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7923960B-4435-FA01-14EF-C34AB9C551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0FDAB159-F2E6-742F-AE3D-C9B1D7F321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21DE5896-5662-3A19-7C73-D399CDA762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2D1C1E3F-47C3-C6B4-14AF-9CAF76591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9F13B6-9CBF-DB6F-3734-65DB95A3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336551"/>
            <a:ext cx="9238329" cy="10853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i="0" dirty="0">
                <a:ea typeface="+mj-lt"/>
                <a:cs typeface="+mj-lt"/>
              </a:rPr>
              <a:t>Introduction — What is the dataset?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FCA37-E9B1-AF1A-AAA7-3018B5186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1" y="1997869"/>
            <a:ext cx="9238329" cy="10215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Dataset Is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 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NYC Airbnb Open Data 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Consisting Of Instances Or Operations Applied On 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Airbnb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 Platform. 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1A406685-2376-17E8-A6BF-93CC57FBC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0327160" y="-1"/>
            <a:ext cx="1864840" cy="6858001"/>
          </a:xfrm>
          <a:custGeom>
            <a:avLst/>
            <a:gdLst>
              <a:gd name="connsiteX0" fmla="*/ 0 w 888736"/>
              <a:gd name="connsiteY0" fmla="*/ 0 h 2458832"/>
              <a:gd name="connsiteX1" fmla="*/ 177394 w 888736"/>
              <a:gd name="connsiteY1" fmla="*/ 125361 h 2458832"/>
              <a:gd name="connsiteX2" fmla="*/ 881856 w 888736"/>
              <a:gd name="connsiteY2" fmla="*/ 1189003 h 2458832"/>
              <a:gd name="connsiteX3" fmla="*/ 691256 w 888736"/>
              <a:gd name="connsiteY3" fmla="*/ 1628147 h 2458832"/>
              <a:gd name="connsiteX4" fmla="*/ 118397 w 888736"/>
              <a:gd name="connsiteY4" fmla="*/ 2331723 h 2458832"/>
              <a:gd name="connsiteX5" fmla="*/ 0 w 888736"/>
              <a:gd name="connsiteY5" fmla="*/ 2458832 h 245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8736" h="2458832">
                <a:moveTo>
                  <a:pt x="0" y="0"/>
                </a:moveTo>
                <a:lnTo>
                  <a:pt x="177394" y="125361"/>
                </a:lnTo>
                <a:cubicBezTo>
                  <a:pt x="548898" y="378359"/>
                  <a:pt x="946091" y="744358"/>
                  <a:pt x="881856" y="1189003"/>
                </a:cubicBezTo>
                <a:cubicBezTo>
                  <a:pt x="858787" y="1347884"/>
                  <a:pt x="777253" y="1491554"/>
                  <a:pt x="691256" y="1628147"/>
                </a:cubicBezTo>
                <a:cubicBezTo>
                  <a:pt x="609261" y="1758448"/>
                  <a:pt x="399047" y="2022344"/>
                  <a:pt x="118397" y="2331723"/>
                </a:cubicBezTo>
                <a:lnTo>
                  <a:pt x="0" y="2458832"/>
                </a:lnTo>
                <a:close/>
              </a:path>
            </a:pathLst>
          </a:cu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44FA4C1-0B16-A8DE-51CC-00E0C0601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3846134" flipH="1">
            <a:off x="10213795" y="2188642"/>
            <a:ext cx="886141" cy="802496"/>
            <a:chOff x="10948005" y="3272152"/>
            <a:chExt cx="868640" cy="78664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547D9B3-C068-B005-A9F7-3A0C7EF62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D9864A0-F693-4FA3-0ADE-E0215E9BE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9EF061E-E3B9-BD12-4F45-01417310F0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7" name="Graphic 12">
              <a:extLst>
                <a:ext uri="{FF2B5EF4-FFF2-40B4-BE49-F238E27FC236}">
                  <a16:creationId xmlns:a16="http://schemas.microsoft.com/office/drawing/2014/main" id="{9AE0CFA9-73D3-E278-7B00-D441677A0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Graphic 15">
              <a:extLst>
                <a:ext uri="{FF2B5EF4-FFF2-40B4-BE49-F238E27FC236}">
                  <a16:creationId xmlns:a16="http://schemas.microsoft.com/office/drawing/2014/main" id="{F618FA6F-8B7C-5313-06E8-B13190CDE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15">
              <a:extLst>
                <a:ext uri="{FF2B5EF4-FFF2-40B4-BE49-F238E27FC236}">
                  <a16:creationId xmlns:a16="http://schemas.microsoft.com/office/drawing/2014/main" id="{900772BF-491D-58FB-38B4-8DD23F711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C26D988-6882-F865-2446-0F83DEDDC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" name="Graphic 78">
            <a:extLst>
              <a:ext uri="{FF2B5EF4-FFF2-40B4-BE49-F238E27FC236}">
                <a16:creationId xmlns:a16="http://schemas.microsoft.com/office/drawing/2014/main" id="{7A88BD8D-202C-1168-C521-93651AF00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6" name="Graphic 78">
              <a:extLst>
                <a:ext uri="{FF2B5EF4-FFF2-40B4-BE49-F238E27FC236}">
                  <a16:creationId xmlns:a16="http://schemas.microsoft.com/office/drawing/2014/main" id="{7F396F44-6BD8-0BF3-8000-D05C7CDF6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aphic 78">
              <a:extLst>
                <a:ext uri="{FF2B5EF4-FFF2-40B4-BE49-F238E27FC236}">
                  <a16:creationId xmlns:a16="http://schemas.microsoft.com/office/drawing/2014/main" id="{88D05376-F776-9A41-8440-2D20D05A0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77" name="Graphic 78">
                <a:extLst>
                  <a:ext uri="{FF2B5EF4-FFF2-40B4-BE49-F238E27FC236}">
                    <a16:creationId xmlns:a16="http://schemas.microsoft.com/office/drawing/2014/main" id="{A039E70A-516A-23E4-1526-7B69EC6495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Graphic 78">
                <a:extLst>
                  <a:ext uri="{FF2B5EF4-FFF2-40B4-BE49-F238E27FC236}">
                    <a16:creationId xmlns:a16="http://schemas.microsoft.com/office/drawing/2014/main" id="{3AC8730F-4D0E-1E7B-4ED9-DECBE052D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Graphic 78">
                <a:extLst>
                  <a:ext uri="{FF2B5EF4-FFF2-40B4-BE49-F238E27FC236}">
                    <a16:creationId xmlns:a16="http://schemas.microsoft.com/office/drawing/2014/main" id="{DB9DCA96-B3EA-D6A7-ECA7-EA27FB7FDA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8ABBC537-3C16-DA03-63DF-032A198E97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F4220F4-8376-EAC6-D82B-06BDE026FB71}"/>
              </a:ext>
            </a:extLst>
          </p:cNvPr>
          <p:cNvSpPr txBox="1"/>
          <p:nvPr/>
        </p:nvSpPr>
        <p:spPr>
          <a:xfrm>
            <a:off x="535782" y="3893343"/>
            <a:ext cx="3083719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Dataset</a:t>
            </a:r>
            <a:r>
              <a:rPr lang="en-US" dirty="0">
                <a:latin typeface="Times New Roman"/>
                <a:cs typeface="Times New Roman"/>
              </a:rPr>
              <a:t> </a:t>
            </a:r>
            <a:endParaRPr lang="en-US"/>
          </a:p>
          <a:p>
            <a:pPr marL="285750" indent="-285750">
              <a:buFont typeface="Wingdings"/>
              <a:buChar char="§"/>
            </a:pPr>
            <a:r>
              <a:rPr lang="en-US" dirty="0">
                <a:latin typeface="Times New Roman"/>
                <a:cs typeface="Times New Roman"/>
              </a:rPr>
              <a:t>NYC Airbnb Open Data </a:t>
            </a:r>
            <a:endParaRPr lang="en-US" dirty="0">
              <a:latin typeface="Times New Roman"/>
              <a:ea typeface="+mn-lt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25DCE-D073-7088-86F7-74499EE6CFD8}"/>
              </a:ext>
            </a:extLst>
          </p:cNvPr>
          <p:cNvSpPr txBox="1"/>
          <p:nvPr/>
        </p:nvSpPr>
        <p:spPr>
          <a:xfrm>
            <a:off x="3893344" y="3893343"/>
            <a:ext cx="3083719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Location</a:t>
            </a:r>
          </a:p>
          <a:p>
            <a:pPr marL="285750" indent="-285750">
              <a:buFont typeface="Wingdings"/>
              <a:buChar char="§"/>
            </a:pPr>
            <a:r>
              <a:rPr lang="en-US" dirty="0">
                <a:latin typeface="Times New Roman"/>
                <a:cs typeface="Times New Roman"/>
              </a:rPr>
              <a:t>New York City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44E7B-F376-7163-FD22-D68DD2878DAA}"/>
              </a:ext>
            </a:extLst>
          </p:cNvPr>
          <p:cNvSpPr txBox="1"/>
          <p:nvPr/>
        </p:nvSpPr>
        <p:spPr>
          <a:xfrm>
            <a:off x="7239000" y="3893343"/>
            <a:ext cx="2928939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Listings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~49K</a:t>
            </a:r>
            <a:r>
              <a:rPr lang="en-US" dirty="0">
                <a:latin typeface="Times New Roman"/>
                <a:cs typeface="Times New Roman"/>
              </a:rPr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EBD32-325D-E257-1D7F-3C9397F4F6EB}"/>
              </a:ext>
            </a:extLst>
          </p:cNvPr>
          <p:cNvSpPr txBox="1"/>
          <p:nvPr/>
        </p:nvSpPr>
        <p:spPr>
          <a:xfrm>
            <a:off x="535781" y="4964906"/>
            <a:ext cx="3083719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Features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§"/>
            </a:pPr>
            <a:r>
              <a:rPr lang="en-US" dirty="0">
                <a:latin typeface="Times New Roman"/>
                <a:ea typeface="+mn-lt"/>
                <a:cs typeface="Times New Roman"/>
              </a:rPr>
              <a:t>16 Original Features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95C373-50F9-9AEA-68E3-BC1263762289}"/>
              </a:ext>
            </a:extLst>
          </p:cNvPr>
          <p:cNvSpPr txBox="1"/>
          <p:nvPr/>
        </p:nvSpPr>
        <p:spPr>
          <a:xfrm>
            <a:off x="3893344" y="4964906"/>
            <a:ext cx="3083719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Period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§"/>
            </a:pPr>
            <a:r>
              <a:rPr lang="en-US" dirty="0">
                <a:latin typeface="Times New Roman"/>
                <a:ea typeface="+mn-lt"/>
                <a:cs typeface="Times New Roman"/>
              </a:rPr>
              <a:t>2011 To 2019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F262AB-A311-CBB0-DA2C-304887926B79}"/>
              </a:ext>
            </a:extLst>
          </p:cNvPr>
          <p:cNvSpPr txBox="1"/>
          <p:nvPr/>
        </p:nvSpPr>
        <p:spPr>
          <a:xfrm>
            <a:off x="7238999" y="4964906"/>
            <a:ext cx="2928938" cy="646331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Target Variable</a:t>
            </a:r>
            <a:endParaRPr lang="en-US" dirty="0"/>
          </a:p>
          <a:p>
            <a:pPr marL="285750" indent="-285750">
              <a:buFont typeface="Wingdings"/>
              <a:buChar char="§"/>
            </a:pPr>
            <a:r>
              <a:rPr lang="en-US" dirty="0">
                <a:latin typeface="Times New Roman"/>
                <a:ea typeface="+mn-lt"/>
                <a:cs typeface="Times New Roman"/>
              </a:rPr>
              <a:t>price</a:t>
            </a:r>
          </a:p>
        </p:txBody>
      </p:sp>
    </p:spTree>
    <p:extLst>
      <p:ext uri="{BB962C8B-B14F-4D97-AF65-F5344CB8AC3E}">
        <p14:creationId xmlns:p14="http://schemas.microsoft.com/office/powerpoint/2010/main" val="3657505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C6610-AF5A-8C02-DE7A-27B39411F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a typeface="+mj-lt"/>
                <a:cs typeface="+mj-lt"/>
              </a:rPr>
              <a:t>Feature Categories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AF55A-6237-70C3-2B55-9FAEDFD2F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63" y="2533090"/>
            <a:ext cx="2810545" cy="2084576"/>
          </a:xfrm>
          <a:ln>
            <a:solidFill>
              <a:schemeClr val="bg2">
                <a:lumMod val="9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👤 Host Information</a:t>
            </a:r>
            <a:endParaRPr lang="en-US"/>
          </a:p>
          <a:p>
            <a:pPr marL="342900" indent="-342900">
              <a:buAutoNum type="arabicParenR"/>
            </a:pPr>
            <a:r>
              <a:rPr lang="en-US" sz="1400" b="1" i="1" dirty="0" err="1">
                <a:latin typeface="Times New Roman"/>
                <a:ea typeface="+mn-lt"/>
                <a:cs typeface="Times New Roman"/>
              </a:rPr>
              <a:t>host_id</a:t>
            </a:r>
            <a:r>
              <a:rPr lang="en-US" sz="1400" b="1" i="1" dirty="0">
                <a:latin typeface="Times New Roman"/>
                <a:ea typeface="+mn-lt"/>
                <a:cs typeface="Times New Roman"/>
              </a:rPr>
              <a:t> </a:t>
            </a:r>
            <a:endParaRPr lang="en-US" sz="1400" b="1" i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r>
              <a:rPr lang="en-US" sz="1400" b="1" i="1" dirty="0" err="1">
                <a:latin typeface="Times New Roman"/>
                <a:ea typeface="+mn-lt"/>
                <a:cs typeface="Times New Roman"/>
              </a:rPr>
              <a:t>host_name</a:t>
            </a:r>
            <a:r>
              <a:rPr lang="en-US" sz="1400" b="1" i="1" dirty="0">
                <a:latin typeface="Times New Roman"/>
                <a:ea typeface="+mn-lt"/>
                <a:cs typeface="Times New Roman"/>
              </a:rPr>
              <a:t> </a:t>
            </a:r>
            <a:endParaRPr lang="en-US" sz="1400" b="1" i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r>
              <a:rPr lang="en-US" sz="1400" b="1" i="1" dirty="0" err="1">
                <a:latin typeface="Times New Roman"/>
                <a:ea typeface="+mn-lt"/>
                <a:cs typeface="Times New Roman"/>
              </a:rPr>
              <a:t>calculated_host_listings_count</a:t>
            </a:r>
            <a:endParaRPr lang="en-US" sz="1400" b="1" i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02B80E-B9C4-8522-E730-98334F92FB00}"/>
              </a:ext>
            </a:extLst>
          </p:cNvPr>
          <p:cNvSpPr txBox="1">
            <a:spLocks/>
          </p:cNvSpPr>
          <p:nvPr/>
        </p:nvSpPr>
        <p:spPr>
          <a:xfrm>
            <a:off x="3441769" y="2531411"/>
            <a:ext cx="2243244" cy="209578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📍 Location</a:t>
            </a:r>
          </a:p>
          <a:p>
            <a:pPr marL="342900" indent="-342900">
              <a:buAutoNum type="arabicParenR"/>
            </a:pPr>
            <a:r>
              <a:rPr lang="en-US" sz="1400" b="1" dirty="0" err="1">
                <a:latin typeface="Times New Roman"/>
                <a:ea typeface="+mn-lt"/>
                <a:cs typeface="Times New Roman"/>
              </a:rPr>
              <a:t>neighbourhood_group</a:t>
            </a:r>
            <a:r>
              <a:rPr lang="en-US" sz="1400" b="1" dirty="0">
                <a:latin typeface="Times New Roman"/>
                <a:ea typeface="+mn-lt"/>
                <a:cs typeface="Times New Roman"/>
              </a:rPr>
              <a:t> </a:t>
            </a:r>
            <a:endParaRPr lang="en-US" sz="1400" b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r>
              <a:rPr lang="en-US" sz="1400" b="1" dirty="0" err="1">
                <a:latin typeface="Times New Roman"/>
                <a:ea typeface="+mn-lt"/>
                <a:cs typeface="Times New Roman"/>
              </a:rPr>
              <a:t>neighbourhood</a:t>
            </a:r>
            <a:r>
              <a:rPr lang="en-US" sz="1400" b="1" dirty="0">
                <a:latin typeface="Times New Roman"/>
                <a:ea typeface="+mn-lt"/>
                <a:cs typeface="Times New Roman"/>
              </a:rPr>
              <a:t> </a:t>
            </a:r>
            <a:endParaRPr lang="en-US" b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r>
              <a:rPr lang="en-US" sz="1400" b="1" dirty="0">
                <a:latin typeface="Times New Roman"/>
                <a:ea typeface="+mn-lt"/>
                <a:cs typeface="Times New Roman"/>
              </a:rPr>
              <a:t>latitude </a:t>
            </a:r>
            <a:endParaRPr lang="en-US" b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r>
              <a:rPr lang="en-US" sz="1400" b="1" dirty="0">
                <a:latin typeface="Times New Roman"/>
                <a:ea typeface="+mn-lt"/>
                <a:cs typeface="Times New Roman"/>
              </a:rPr>
              <a:t>longitude</a:t>
            </a:r>
            <a:endParaRPr lang="en-US" b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endParaRPr lang="en-US" sz="1400" b="1" i="1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592A16-02E9-90FF-769C-6C1BEFF79F5D}"/>
              </a:ext>
            </a:extLst>
          </p:cNvPr>
          <p:cNvSpPr txBox="1">
            <a:spLocks/>
          </p:cNvSpPr>
          <p:nvPr/>
        </p:nvSpPr>
        <p:spPr>
          <a:xfrm>
            <a:off x="5837444" y="2529028"/>
            <a:ext cx="2844163" cy="208457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⭐ Review Information</a:t>
            </a:r>
            <a:endParaRPr lang="en-US"/>
          </a:p>
          <a:p>
            <a:pPr marL="342900" indent="-342900">
              <a:buAutoNum type="arabicParenR"/>
            </a:pPr>
            <a:r>
              <a:rPr lang="en-US" sz="1400" b="1" dirty="0" err="1">
                <a:latin typeface="Times New Roman"/>
                <a:ea typeface="+mn-lt"/>
                <a:cs typeface="Times New Roman"/>
              </a:rPr>
              <a:t>number_of_reviews</a:t>
            </a:r>
            <a:r>
              <a:rPr lang="en-US" sz="1400" b="1" dirty="0">
                <a:latin typeface="Times New Roman"/>
                <a:ea typeface="+mn-lt"/>
                <a:cs typeface="Times New Roman"/>
              </a:rPr>
              <a:t> </a:t>
            </a:r>
            <a:endParaRPr lang="en-US" sz="1400" b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r>
              <a:rPr lang="en-US" sz="1400" b="1" dirty="0" err="1">
                <a:latin typeface="Times New Roman"/>
                <a:ea typeface="+mn-lt"/>
                <a:cs typeface="Times New Roman"/>
              </a:rPr>
              <a:t>last_review</a:t>
            </a:r>
            <a:r>
              <a:rPr lang="en-US" sz="1400" b="1" dirty="0">
                <a:latin typeface="Times New Roman"/>
                <a:ea typeface="+mn-lt"/>
                <a:cs typeface="Times New Roman"/>
              </a:rPr>
              <a:t> </a:t>
            </a:r>
            <a:endParaRPr lang="en-US" sz="1400" b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r>
              <a:rPr lang="en-US" sz="1400" b="1" dirty="0" err="1">
                <a:latin typeface="Times New Roman"/>
                <a:ea typeface="+mn-lt"/>
                <a:cs typeface="Times New Roman"/>
              </a:rPr>
              <a:t>reviews_per_month</a:t>
            </a:r>
            <a:endParaRPr lang="en-US" sz="1400" b="1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6473FCE-458E-CA33-5475-B4B2666231FF}"/>
              </a:ext>
            </a:extLst>
          </p:cNvPr>
          <p:cNvSpPr txBox="1">
            <a:spLocks/>
          </p:cNvSpPr>
          <p:nvPr/>
        </p:nvSpPr>
        <p:spPr>
          <a:xfrm>
            <a:off x="8812326" y="2526647"/>
            <a:ext cx="3231465" cy="208457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🏠 Listing Information </a:t>
            </a:r>
          </a:p>
          <a:p>
            <a:pPr marL="342900" indent="-342900">
              <a:buAutoNum type="arabicParenR"/>
            </a:pPr>
            <a:r>
              <a:rPr lang="en-US" sz="1400" b="1" dirty="0" err="1">
                <a:latin typeface="Times New Roman"/>
                <a:ea typeface="+mn-lt"/>
                <a:cs typeface="Times New Roman"/>
              </a:rPr>
              <a:t>room_type</a:t>
            </a:r>
            <a:r>
              <a:rPr lang="en-US" sz="1400" b="1" dirty="0">
                <a:latin typeface="Times New Roman"/>
                <a:ea typeface="+mn-lt"/>
                <a:cs typeface="Times New Roman"/>
              </a:rPr>
              <a:t> </a:t>
            </a:r>
            <a:endParaRPr lang="en-US" sz="1400" b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r>
              <a:rPr lang="en-US" sz="1400" b="1" dirty="0" err="1">
                <a:latin typeface="Times New Roman"/>
                <a:ea typeface="+mn-lt"/>
                <a:cs typeface="Times New Roman"/>
              </a:rPr>
              <a:t>minimum_nights</a:t>
            </a:r>
            <a:r>
              <a:rPr lang="en-US" sz="1400" b="1" dirty="0">
                <a:latin typeface="Times New Roman"/>
                <a:ea typeface="+mn-lt"/>
                <a:cs typeface="Times New Roman"/>
              </a:rPr>
              <a:t> </a:t>
            </a:r>
            <a:endParaRPr lang="en-US" b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r>
              <a:rPr lang="en-US" sz="1400" b="1" dirty="0">
                <a:latin typeface="Times New Roman"/>
                <a:ea typeface="+mn-lt"/>
                <a:cs typeface="Times New Roman"/>
              </a:rPr>
              <a:t>price </a:t>
            </a:r>
            <a:endParaRPr lang="en-US" b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r>
              <a:rPr lang="en-US" sz="1400" b="1" dirty="0">
                <a:latin typeface="Times New Roman"/>
                <a:ea typeface="+mn-lt"/>
                <a:cs typeface="Times New Roman"/>
              </a:rPr>
              <a:t>availability_365</a:t>
            </a:r>
            <a:endParaRPr lang="en-US" b="1">
              <a:latin typeface="Times New Roman"/>
              <a:cs typeface="Times New Roman"/>
            </a:endParaRPr>
          </a:p>
          <a:p>
            <a:pPr marL="342900" indent="-342900">
              <a:buAutoNum type="arabicParenR"/>
            </a:pPr>
            <a:endParaRPr lang="en-US" sz="1400" b="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endParaRPr lang="en-US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9FE3E5-2C01-D084-36F3-1B373C341FC9}"/>
              </a:ext>
            </a:extLst>
          </p:cNvPr>
          <p:cNvSpPr txBox="1">
            <a:spLocks/>
          </p:cNvSpPr>
          <p:nvPr/>
        </p:nvSpPr>
        <p:spPr>
          <a:xfrm>
            <a:off x="1393193" y="4758578"/>
            <a:ext cx="8570370" cy="195010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🎯</a:t>
            </a:r>
            <a:r>
              <a:rPr lang="en-US" dirty="0">
                <a:solidFill>
                  <a:srgbClr val="FF0000"/>
                </a:solidFill>
                <a:latin typeface="Avenir Next LT Pro"/>
                <a:ea typeface="+mn-lt"/>
                <a:cs typeface="Times New Roman"/>
              </a:rPr>
              <a:t> </a:t>
            </a:r>
            <a:r>
              <a:rPr lang="en-US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Purpose </a:t>
            </a:r>
            <a:endParaRPr lang="en-US" dirty="0"/>
          </a:p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US" sz="1400" dirty="0">
                <a:ea typeface="+mn-lt"/>
                <a:cs typeface="+mn-lt"/>
              </a:rPr>
              <a:t>Understand listing characteristics and prepare the data for ML modelling .</a:t>
            </a:r>
            <a:endParaRPr lang="en-US" sz="1400" b="1" i="1" dirty="0">
              <a:latin typeface="Times New Roman"/>
              <a:cs typeface="Times New Roman"/>
            </a:endParaRPr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US" sz="1400" dirty="0">
                <a:ea typeface="+mn-lt"/>
                <a:cs typeface="+mn-lt"/>
              </a:rPr>
              <a:t> Executing  Exploratory Data Analysis On</a:t>
            </a:r>
            <a:r>
              <a:rPr lang="en-US" sz="1400" b="1" dirty="0">
                <a:ea typeface="+mn-lt"/>
                <a:cs typeface="+mn-lt"/>
              </a:rPr>
              <a:t> NYC Airbnb dataset </a:t>
            </a:r>
            <a:r>
              <a:rPr lang="en-US" sz="1400" dirty="0">
                <a:ea typeface="+mn-lt"/>
                <a:cs typeface="+mn-lt"/>
              </a:rPr>
              <a:t>By Using Python Libraries Helping In Understanding Data And Cleaning That Data To Be Ready For Modelling And Gaining Best Performance Can Be Expected In User Work Environment.</a:t>
            </a:r>
            <a:endParaRPr lang="en-US" dirty="0"/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5465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48441-7B35-C8B9-6851-E220A962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2" name="Rectangle 221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FB564B-73DD-E2C9-012B-4AEE2667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37" y="3185049"/>
            <a:ext cx="4808252" cy="687900"/>
          </a:xfrm>
          <a:solidFill>
            <a:srgbClr val="EBE5E3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vert="horz" lIns="91440" tIns="45720" rIns="91440" bIns="45720" rtlCol="0">
            <a:normAutofit fontScale="90000"/>
          </a:bodyPr>
          <a:lstStyle/>
          <a:p>
            <a:pPr algn="ctr"/>
            <a:r>
              <a:rPr lang="en-US" dirty="0"/>
              <a:t>Feature Descriptions</a:t>
            </a:r>
            <a:endParaRPr lang="en-US"/>
          </a:p>
        </p:txBody>
      </p:sp>
      <p:sp>
        <p:nvSpPr>
          <p:cNvPr id="223" name="Freeform: Shape 222">
            <a:extLst>
              <a:ext uri="{FF2B5EF4-FFF2-40B4-BE49-F238E27FC236}">
                <a16:creationId xmlns:a16="http://schemas.microsoft.com/office/drawing/2014/main" id="{3ED2C98F-B668-4CD9-862F-6BF4AE5D2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3976378" cy="127377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aphicFrame>
        <p:nvGraphicFramePr>
          <p:cNvPr id="206" name="Subtitle 2">
            <a:extLst>
              <a:ext uri="{FF2B5EF4-FFF2-40B4-BE49-F238E27FC236}">
                <a16:creationId xmlns:a16="http://schemas.microsoft.com/office/drawing/2014/main" id="{A28CE367-D4BF-CC24-5F3E-E5E66D50BC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084821"/>
              </p:ext>
            </p:extLst>
          </p:nvPr>
        </p:nvGraphicFramePr>
        <p:xfrm>
          <a:off x="5068561" y="80040"/>
          <a:ext cx="6662157" cy="6693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9348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Freeform: Shape 189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96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1" name="Freeform: Shape 200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03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04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5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06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211" name="Rectangle 210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E67BD1-9CD7-31E0-3500-7AE9EBBE5D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9"/>
          <a:stretch>
            <a:fillRect/>
          </a:stretch>
        </p:blipFill>
        <p:spPr>
          <a:xfrm>
            <a:off x="11063" y="-276077"/>
            <a:ext cx="12188932" cy="6857990"/>
          </a:xfrm>
          <a:prstGeom prst="rect">
            <a:avLst/>
          </a:prstGeom>
        </p:spPr>
      </p:pic>
      <p:sp>
        <p:nvSpPr>
          <p:cNvPr id="213" name="Rectangle 212">
            <a:extLst>
              <a:ext uri="{FF2B5EF4-FFF2-40B4-BE49-F238E27FC236}">
                <a16:creationId xmlns:a16="http://schemas.microsoft.com/office/drawing/2014/main" id="{948AEA76-67F2-4344-A189-9BFFE0076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70186" y="-570186"/>
            <a:ext cx="6858000" cy="7998371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799521"/>
            <a:ext cx="5565648" cy="21796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Data Quality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530352" y="3613717"/>
            <a:ext cx="1910258" cy="484521"/>
          </a:xfr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+mn-lt"/>
                <a:cs typeface="Times New Roman"/>
              </a:rPr>
              <a:t>Missing values </a:t>
            </a:r>
            <a:endParaRPr lang="en-US" sz="1600" b="1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endParaRPr lang="en-US" sz="16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215" name="Freeform: Shape 214">
            <a:extLst>
              <a:ext uri="{FF2B5EF4-FFF2-40B4-BE49-F238E27FC236}">
                <a16:creationId xmlns:a16="http://schemas.microsoft.com/office/drawing/2014/main" id="{CF7F2079-504C-499A-A644-58F4DDC76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5350" y="-785349"/>
            <a:ext cx="744976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7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18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9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20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5" name="Freeform: Shape 224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1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CC63577D-6BBD-5EDD-657D-267278BACA61}"/>
              </a:ext>
            </a:extLst>
          </p:cNvPr>
          <p:cNvSpPr txBox="1">
            <a:spLocks/>
          </p:cNvSpPr>
          <p:nvPr/>
        </p:nvSpPr>
        <p:spPr>
          <a:xfrm>
            <a:off x="2394491" y="3611508"/>
            <a:ext cx="2793736" cy="47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cs typeface="Times New Roman"/>
              </a:rPr>
              <a:t>Duplicate records </a:t>
            </a:r>
            <a:endParaRPr lang="en-US" sz="1600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sz="16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5B6D3B2-1B4C-7BE7-744A-A9A228843026}"/>
              </a:ext>
            </a:extLst>
          </p:cNvPr>
          <p:cNvSpPr txBox="1">
            <a:spLocks/>
          </p:cNvSpPr>
          <p:nvPr/>
        </p:nvSpPr>
        <p:spPr>
          <a:xfrm>
            <a:off x="4603188" y="3622551"/>
            <a:ext cx="2893127" cy="47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Non-Necessary Features  </a:t>
            </a:r>
            <a:endParaRPr lang="en-US" sz="1600" b="1" dirty="0">
              <a:solidFill>
                <a:srgbClr val="000000"/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C3E8BBB-0DC5-F4E3-7706-E67823833026}"/>
              </a:ext>
            </a:extLst>
          </p:cNvPr>
          <p:cNvSpPr txBox="1">
            <a:spLocks/>
          </p:cNvSpPr>
          <p:nvPr/>
        </p:nvSpPr>
        <p:spPr>
          <a:xfrm>
            <a:off x="7783709" y="3611508"/>
            <a:ext cx="1987563" cy="47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Data types </a:t>
            </a:r>
            <a:endParaRPr lang="en-US" sz="1600" b="1">
              <a:solidFill>
                <a:srgbClr val="000000"/>
              </a:solidFill>
            </a:endParaRPr>
          </a:p>
          <a:p>
            <a:pPr marL="285750" indent="-285750">
              <a:buFont typeface="Arial,Sans-Serif"/>
              <a:buChar char="•"/>
            </a:pPr>
            <a:endParaRPr lang="en-US" sz="1600" b="1" dirty="0">
              <a:solidFill>
                <a:srgbClr val="FFFFFF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218CAE-844F-7D2B-2C91-6669E09B5B81}"/>
              </a:ext>
            </a:extLst>
          </p:cNvPr>
          <p:cNvCxnSpPr/>
          <p:nvPr/>
        </p:nvCxnSpPr>
        <p:spPr>
          <a:xfrm flipH="1">
            <a:off x="1440855" y="3869832"/>
            <a:ext cx="5514" cy="538249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AB4839-D22F-788F-F483-EFAAE601C28C}"/>
              </a:ext>
            </a:extLst>
          </p:cNvPr>
          <p:cNvCxnSpPr>
            <a:cxnSpLocks/>
          </p:cNvCxnSpPr>
          <p:nvPr/>
        </p:nvCxnSpPr>
        <p:spPr>
          <a:xfrm flipH="1">
            <a:off x="3528072" y="3869832"/>
            <a:ext cx="5514" cy="538249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AFF45D-45D5-CB5C-B24D-1F56AFE5BB5F}"/>
              </a:ext>
            </a:extLst>
          </p:cNvPr>
          <p:cNvCxnSpPr>
            <a:cxnSpLocks/>
          </p:cNvCxnSpPr>
          <p:nvPr/>
        </p:nvCxnSpPr>
        <p:spPr>
          <a:xfrm flipH="1">
            <a:off x="6090159" y="3869832"/>
            <a:ext cx="5514" cy="538249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3DAF75-F8D8-9F4F-E184-025878D0E633}"/>
              </a:ext>
            </a:extLst>
          </p:cNvPr>
          <p:cNvCxnSpPr>
            <a:cxnSpLocks/>
          </p:cNvCxnSpPr>
          <p:nvPr/>
        </p:nvCxnSpPr>
        <p:spPr>
          <a:xfrm flipH="1">
            <a:off x="8707463" y="3880875"/>
            <a:ext cx="5514" cy="538249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Wave 25">
            <a:extLst>
              <a:ext uri="{FF2B5EF4-FFF2-40B4-BE49-F238E27FC236}">
                <a16:creationId xmlns:a16="http://schemas.microsoft.com/office/drawing/2014/main" id="{B5B7E265-C0CC-45B8-534D-9FC83AD7FF7A}"/>
              </a:ext>
            </a:extLst>
          </p:cNvPr>
          <p:cNvSpPr/>
          <p:nvPr/>
        </p:nvSpPr>
        <p:spPr>
          <a:xfrm>
            <a:off x="474730" y="4283844"/>
            <a:ext cx="1816296" cy="1725426"/>
          </a:xfrm>
          <a:prstGeom prst="wave">
            <a:avLst/>
          </a:prstGeom>
          <a:solidFill>
            <a:srgbClr val="322559">
              <a:alpha val="82000"/>
            </a:srgbClr>
          </a:solidFill>
          <a:ln w="6350">
            <a:solidFill>
              <a:srgbClr val="2028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Calibri"/>
              <a:buChar char="-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</a:rPr>
              <a:t>name </a:t>
            </a:r>
            <a:r>
              <a:rPr lang="en-US" sz="1400" i="0" dirty="0">
                <a:solidFill>
                  <a:schemeClr val="bg1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</a:rPr>
              <a:t>​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</a:rPr>
              <a:t> </a:t>
            </a:r>
            <a:endParaRPr lang="en-US" sz="1400">
              <a:solidFill>
                <a:schemeClr val="bg1">
                  <a:lumMod val="85000"/>
                </a:schemeClr>
              </a:solidFill>
              <a:latin typeface="Avenir Next LT Pro"/>
              <a:ea typeface="Times New Roman"/>
              <a:cs typeface="Times New Roman"/>
            </a:endParaRPr>
          </a:p>
          <a:p>
            <a:pPr marL="285750" indent="-285750">
              <a:buFont typeface="Calibri"/>
              <a:buChar char="-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Host_name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 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Times New Roman"/>
                <a:ea typeface="+mn-lt"/>
                <a:cs typeface="Times New Roman"/>
              </a:rPr>
              <a:t>last_review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review_per_month</a:t>
            </a:r>
          </a:p>
        </p:txBody>
      </p:sp>
      <p:sp>
        <p:nvSpPr>
          <p:cNvPr id="27" name="Wave 26">
            <a:extLst>
              <a:ext uri="{FF2B5EF4-FFF2-40B4-BE49-F238E27FC236}">
                <a16:creationId xmlns:a16="http://schemas.microsoft.com/office/drawing/2014/main" id="{6B869792-EE4E-6E0F-D6F5-7B934A22E65B}"/>
              </a:ext>
            </a:extLst>
          </p:cNvPr>
          <p:cNvSpPr/>
          <p:nvPr/>
        </p:nvSpPr>
        <p:spPr>
          <a:xfrm>
            <a:off x="2561947" y="4339061"/>
            <a:ext cx="1816296" cy="1725426"/>
          </a:xfrm>
          <a:prstGeom prst="wave">
            <a:avLst/>
          </a:prstGeom>
          <a:solidFill>
            <a:srgbClr val="322559">
              <a:alpha val="82000"/>
            </a:srgbClr>
          </a:solidFill>
          <a:ln>
            <a:solidFill>
              <a:srgbClr val="2028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Calibri"/>
              <a:buChar char="-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Zero Duplicate Instances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Avenir Next LT Pro"/>
              <a:cs typeface="Times New Roman"/>
            </a:endParaRPr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BBFED44F-5CFF-0010-E133-758DA300B6C9}"/>
              </a:ext>
            </a:extLst>
          </p:cNvPr>
          <p:cNvSpPr/>
          <p:nvPr/>
        </p:nvSpPr>
        <p:spPr>
          <a:xfrm>
            <a:off x="5190295" y="4283843"/>
            <a:ext cx="1816296" cy="1725426"/>
          </a:xfrm>
          <a:prstGeom prst="wave">
            <a:avLst/>
          </a:prstGeom>
          <a:solidFill>
            <a:srgbClr val="322559">
              <a:alpha val="82000"/>
            </a:srgbClr>
          </a:solidFill>
          <a:ln w="6350">
            <a:solidFill>
              <a:srgbClr val="2028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Calibri"/>
              <a:buChar char="-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id 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host_id</a:t>
            </a:r>
          </a:p>
        </p:txBody>
      </p:sp>
      <p:sp>
        <p:nvSpPr>
          <p:cNvPr id="29" name="Wave 28">
            <a:extLst>
              <a:ext uri="{FF2B5EF4-FFF2-40B4-BE49-F238E27FC236}">
                <a16:creationId xmlns:a16="http://schemas.microsoft.com/office/drawing/2014/main" id="{C61A60E8-2EE0-CE70-A3A0-5CF1B5CC1DA9}"/>
              </a:ext>
            </a:extLst>
          </p:cNvPr>
          <p:cNvSpPr/>
          <p:nvPr/>
        </p:nvSpPr>
        <p:spPr>
          <a:xfrm>
            <a:off x="7498381" y="4339061"/>
            <a:ext cx="2103426" cy="1725426"/>
          </a:xfrm>
          <a:prstGeom prst="wave">
            <a:avLst/>
          </a:prstGeom>
          <a:solidFill>
            <a:srgbClr val="322559">
              <a:alpha val="82000"/>
            </a:srgbClr>
          </a:solidFill>
          <a:ln w="6350">
            <a:solidFill>
              <a:srgbClr val="2028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Calibri"/>
              <a:buChar char="-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8 Numerical Features </a:t>
            </a:r>
          </a:p>
          <a:p>
            <a:pPr marL="285750" indent="-285750">
              <a:buFont typeface="Calibri"/>
              <a:buChar char="-"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Times New Roman"/>
                <a:cs typeface="Times New Roman"/>
              </a:rPr>
              <a:t>6 categorical Features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48441-7B35-C8B9-6851-E220A962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B564B-73DD-E2C9-012B-4AEE2667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570" y="663725"/>
            <a:ext cx="8909605" cy="687900"/>
          </a:xfr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EDA Analysis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7850EF8-E174-EAB6-471D-FA1CCB76C5EB}"/>
              </a:ext>
            </a:extLst>
          </p:cNvPr>
          <p:cNvSpPr txBox="1">
            <a:spLocks/>
          </p:cNvSpPr>
          <p:nvPr/>
        </p:nvSpPr>
        <p:spPr>
          <a:xfrm>
            <a:off x="524764" y="2564243"/>
            <a:ext cx="3004105" cy="1203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600" dirty="0">
                <a:solidFill>
                  <a:srgbClr val="000000"/>
                </a:solidFill>
                <a:latin typeface="Times New Roman"/>
                <a:cs typeface="Times New Roman"/>
              </a:rPr>
              <a:t>Eleven Inconsistent Outliers Is Assigned with 0 Renting Price </a:t>
            </a:r>
          </a:p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B02641-F95C-6464-B791-FC8977D2ABFD}"/>
              </a:ext>
            </a:extLst>
          </p:cNvPr>
          <p:cNvSpPr txBox="1"/>
          <p:nvPr/>
        </p:nvSpPr>
        <p:spPr>
          <a:xfrm>
            <a:off x="514983" y="1916206"/>
            <a:ext cx="4196523" cy="657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solidFill>
                  <a:srgbClr val="2BBBD7"/>
                </a:solidFill>
                <a:latin typeface="Times New Roman"/>
                <a:ea typeface="Times New Roman"/>
                <a:cs typeface="Times New Roman"/>
              </a:rPr>
              <a:t>◈</a:t>
            </a:r>
            <a:r>
              <a:rPr lang="en-US" b="1" i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Data Understanding Of Price Feature</a:t>
            </a:r>
            <a:endParaRPr lang="en-US"/>
          </a:p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A1E2E9C8-B04E-9FCE-6836-AF18F78BCB38}"/>
              </a:ext>
            </a:extLst>
          </p:cNvPr>
          <p:cNvSpPr txBox="1">
            <a:spLocks/>
          </p:cNvSpPr>
          <p:nvPr/>
        </p:nvSpPr>
        <p:spPr>
          <a:xfrm>
            <a:off x="524764" y="3889460"/>
            <a:ext cx="3004105" cy="1203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600" dirty="0">
                <a:solidFill>
                  <a:srgbClr val="000000"/>
                </a:solidFill>
                <a:latin typeface="Times New Roman"/>
                <a:cs typeface="Times New Roman"/>
              </a:rPr>
              <a:t>Price Distribution Is Right Skewed With Rate 19.12.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DF01BD7E-C29D-37D5-BEC3-9367593B2AA9}"/>
              </a:ext>
            </a:extLst>
          </p:cNvPr>
          <p:cNvSpPr txBox="1">
            <a:spLocks/>
          </p:cNvSpPr>
          <p:nvPr/>
        </p:nvSpPr>
        <p:spPr>
          <a:xfrm>
            <a:off x="524764" y="5225720"/>
            <a:ext cx="3004105" cy="1203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900" dirty="0">
                <a:solidFill>
                  <a:srgbClr val="000000"/>
                </a:solidFill>
                <a:latin typeface="Times New Roman"/>
                <a:cs typeface="Times New Roman"/>
              </a:rPr>
              <a:t>Median  Price  is 106.0  </a:t>
            </a:r>
            <a:endParaRPr lang="en-US" sz="2900" dirty="0">
              <a:solidFill>
                <a:srgbClr val="000000"/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900" dirty="0">
                <a:latin typeface="Times New Roman"/>
                <a:cs typeface="Times New Roman"/>
              </a:rPr>
              <a:t>Average Price is 152.72</a:t>
            </a:r>
          </a:p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2D8564F8-95E5-9EF1-31B5-9410FC4329FA}"/>
              </a:ext>
            </a:extLst>
          </p:cNvPr>
          <p:cNvSpPr txBox="1">
            <a:spLocks/>
          </p:cNvSpPr>
          <p:nvPr/>
        </p:nvSpPr>
        <p:spPr>
          <a:xfrm>
            <a:off x="4699199" y="4971720"/>
            <a:ext cx="7101234" cy="174450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800" i="0" dirty="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🔎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 Insights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Minimum Value In Price is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Zero Renting Prices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Which It Is Not Logic Value And Considered As Inconsistent Outliers Where  Eleven Instances Contain.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The Largest Group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1-100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 With 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~24k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 Listings And Lowest Group Is 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5.1k-10k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 With 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20 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listings. 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The Price Is Highly Right-skewed Distributed With most Listings Concentrated  At Lower Prices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416201C-7EEE-6796-9F47-C925DBDCD9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11" r="235" b="-138"/>
          <a:stretch>
            <a:fillRect/>
          </a:stretch>
        </p:blipFill>
        <p:spPr>
          <a:xfrm>
            <a:off x="4695654" y="1719331"/>
            <a:ext cx="7204468" cy="3263697"/>
          </a:xfrm>
          <a:prstGeom prst="rect">
            <a:avLst/>
          </a:prstGeom>
          <a:solidFill>
            <a:srgbClr val="FFFFFF">
              <a:shade val="85000"/>
            </a:srgbClr>
          </a:solidFill>
          <a:ln w="6350" cap="rnd">
            <a:solidFill>
              <a:schemeClr val="bg1">
                <a:lumMod val="85000"/>
              </a:schemeClr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664253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C0AC0-0E54-D0F8-6AE3-B67AEF9D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5BD8-D744-1DDF-5C22-FE57D151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570" y="663725"/>
            <a:ext cx="8909605" cy="687900"/>
          </a:xfr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EDA Analysis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5B35E33-06A3-77CE-5A11-E51389012F1E}"/>
              </a:ext>
            </a:extLst>
          </p:cNvPr>
          <p:cNvSpPr txBox="1">
            <a:spLocks/>
          </p:cNvSpPr>
          <p:nvPr/>
        </p:nvSpPr>
        <p:spPr>
          <a:xfrm>
            <a:off x="524764" y="2453808"/>
            <a:ext cx="3004105" cy="1092937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600" dirty="0">
                <a:solidFill>
                  <a:srgbClr val="000000"/>
                </a:solidFill>
                <a:latin typeface="Times New Roman"/>
                <a:cs typeface="Times New Roman"/>
              </a:rPr>
              <a:t>There Is 16 Missing Values 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E76CA6-92B4-23A9-F26C-9BA3B8F339EE}"/>
              </a:ext>
            </a:extLst>
          </p:cNvPr>
          <p:cNvSpPr txBox="1"/>
          <p:nvPr/>
        </p:nvSpPr>
        <p:spPr>
          <a:xfrm>
            <a:off x="526026" y="1916206"/>
            <a:ext cx="41854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dirty="0">
                <a:solidFill>
                  <a:srgbClr val="2BBBD7"/>
                </a:solidFill>
                <a:latin typeface="Times New Roman"/>
                <a:ea typeface="Times New Roman"/>
                <a:cs typeface="Times New Roman"/>
              </a:rPr>
              <a:t>◈</a:t>
            </a:r>
            <a:r>
              <a:rPr lang="en-US" b="1" i="0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Data Understanding Of </a:t>
            </a:r>
            <a:r>
              <a:rPr lang="en-US" b="1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name </a:t>
            </a:r>
            <a:r>
              <a:rPr lang="en-US" b="1" i="0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Feature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28282BAA-84F2-A89D-4812-118F696D72C8}"/>
              </a:ext>
            </a:extLst>
          </p:cNvPr>
          <p:cNvSpPr txBox="1">
            <a:spLocks/>
          </p:cNvSpPr>
          <p:nvPr/>
        </p:nvSpPr>
        <p:spPr>
          <a:xfrm>
            <a:off x="524764" y="3657547"/>
            <a:ext cx="3004105" cy="1037719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2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4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600" dirty="0">
                <a:latin typeface="Times New Roman"/>
                <a:cs typeface="Times New Roman"/>
              </a:rPr>
              <a:t>Most Frequent Description Is </a:t>
            </a:r>
            <a:r>
              <a:rPr lang="en-US" sz="2900" b="1" dirty="0">
                <a:solidFill>
                  <a:srgbClr val="FF0000"/>
                </a:solidFill>
                <a:latin typeface="Times New Roman"/>
                <a:cs typeface="Times New Roman"/>
              </a:rPr>
              <a:t>Hillside Hotel</a:t>
            </a:r>
          </a:p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D8F90F57-AC2A-3ADB-B00E-D105EA1BD6E3}"/>
              </a:ext>
            </a:extLst>
          </p:cNvPr>
          <p:cNvSpPr txBox="1">
            <a:spLocks/>
          </p:cNvSpPr>
          <p:nvPr/>
        </p:nvSpPr>
        <p:spPr>
          <a:xfrm>
            <a:off x="4522503" y="3889457"/>
            <a:ext cx="7101234" cy="2097894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800" i="0" dirty="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🔎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 Insights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The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Description Of Accommodations Owned Highest Renting Costs In That Dataset Are  </a:t>
            </a:r>
          </a:p>
          <a:p>
            <a:pPr marL="742950" lvl="1" indent="-285750">
              <a:spcBef>
                <a:spcPct val="0"/>
              </a:spcBef>
              <a:buFont typeface="Courier New"/>
              <a:buChar char="o"/>
            </a:pPr>
            <a:r>
              <a:rPr lang="en-US" sz="1400" b="1" i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one-BR Lincoln Center. </a:t>
            </a:r>
          </a:p>
          <a:p>
            <a:pPr marL="742950" lvl="1" indent="-285750">
              <a:spcBef>
                <a:spcPct val="0"/>
              </a:spcBef>
              <a:buFont typeface="Courier New"/>
              <a:buChar char="o"/>
            </a:pPr>
            <a:r>
              <a:rPr lang="en-US"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Furnished room In Astoria </a:t>
            </a:r>
          </a:p>
          <a:p>
            <a:pPr marL="742950" lvl="1" indent="-285750">
              <a:spcBef>
                <a:spcPct val="0"/>
              </a:spcBef>
              <a:buFont typeface="Courier New"/>
              <a:buChar char="o"/>
            </a:pPr>
            <a:r>
              <a:rPr lang="en-US"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Luxury one bedroom  </a:t>
            </a:r>
          </a:p>
          <a:p>
            <a:pPr marL="742950" lvl="1" indent="-285750">
              <a:spcBef>
                <a:spcPct val="0"/>
              </a:spcBef>
              <a:buFont typeface="Courier New"/>
              <a:buChar char="o"/>
            </a:pPr>
            <a:r>
              <a:rPr lang="en-US" sz="14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Stunning Manhattan Views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96C7D29-114F-381C-4C7F-0259E21EFDB9}"/>
              </a:ext>
            </a:extLst>
          </p:cNvPr>
          <p:cNvSpPr txBox="1">
            <a:spLocks/>
          </p:cNvSpPr>
          <p:nvPr/>
        </p:nvSpPr>
        <p:spPr>
          <a:xfrm>
            <a:off x="4522503" y="2564241"/>
            <a:ext cx="7101234" cy="1092937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80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What's Happened In Data Cleaning Process?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There Is Special Characters In Descriptions Of Listings And All Had Been Deleted To Show Those Descriptions In Clearer View.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75B137-59F7-840F-2AF8-D7035D126F05}"/>
              </a:ext>
            </a:extLst>
          </p:cNvPr>
          <p:cNvSpPr txBox="1">
            <a:spLocks/>
          </p:cNvSpPr>
          <p:nvPr/>
        </p:nvSpPr>
        <p:spPr>
          <a:xfrm>
            <a:off x="524764" y="4817109"/>
            <a:ext cx="3004105" cy="1932242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3400" i="0" dirty="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Extracted Features</a:t>
            </a:r>
            <a:r>
              <a:rPr lang="en-US" sz="2900" i="0" dirty="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 </a:t>
            </a:r>
            <a:endParaRPr lang="en-US" sz="2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2300" b="1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 sz="3500" b="1" dirty="0" err="1">
                <a:solidFill>
                  <a:schemeClr val="accent4">
                    <a:lumMod val="49000"/>
                  </a:schemeClr>
                </a:solidFill>
                <a:latin typeface="Times New Roman"/>
                <a:cs typeface="Times New Roman"/>
              </a:rPr>
              <a:t>desc_len</a:t>
            </a:r>
            <a:r>
              <a:rPr lang="en-US" sz="3500" b="1" dirty="0">
                <a:solidFill>
                  <a:schemeClr val="accent4">
                    <a:lumMod val="49000"/>
                  </a:schemeClr>
                </a:solidFill>
                <a:latin typeface="Times New Roman"/>
                <a:cs typeface="Times New Roman"/>
              </a:rPr>
              <a:t> </a:t>
            </a:r>
          </a:p>
          <a:p>
            <a:pPr marL="342900" indent="-342900">
              <a:buAutoNum type="arabicPeriod"/>
            </a:pPr>
            <a:r>
              <a:rPr lang="en-US" sz="3500" b="1" dirty="0" err="1">
                <a:solidFill>
                  <a:schemeClr val="accent4">
                    <a:lumMod val="49000"/>
                  </a:schemeClr>
                </a:solidFill>
                <a:latin typeface="Times New Roman"/>
                <a:cs typeface="Times New Roman"/>
              </a:rPr>
              <a:t>desc_lang</a:t>
            </a:r>
            <a:endParaRPr lang="en-US" sz="3500" b="1" dirty="0">
              <a:solidFill>
                <a:schemeClr val="accent4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 sz="3500" b="1" dirty="0" err="1">
                <a:solidFill>
                  <a:schemeClr val="accent4">
                    <a:lumMod val="49000"/>
                  </a:schemeClr>
                </a:solidFill>
                <a:latin typeface="Times New Roman"/>
                <a:cs typeface="Times New Roman"/>
              </a:rPr>
              <a:t>has_prop_keyword</a:t>
            </a:r>
            <a:endParaRPr lang="en-US" sz="3500" b="1" dirty="0">
              <a:solidFill>
                <a:schemeClr val="accent4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 sz="3500" b="1" err="1">
                <a:solidFill>
                  <a:schemeClr val="accent4">
                    <a:lumMod val="49000"/>
                  </a:schemeClr>
                </a:solidFill>
                <a:latin typeface="Times New Roman"/>
                <a:cs typeface="Times New Roman"/>
              </a:rPr>
              <a:t>has_room_keyword</a:t>
            </a:r>
            <a:endParaRPr lang="en-US" sz="3500" b="1">
              <a:solidFill>
                <a:schemeClr val="accent4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 sz="3500" b="1" err="1">
                <a:solidFill>
                  <a:schemeClr val="accent4">
                    <a:lumMod val="49000"/>
                  </a:schemeClr>
                </a:solidFill>
                <a:latin typeface="Times New Roman"/>
                <a:cs typeface="Times New Roman"/>
              </a:rPr>
              <a:t>has_rental_keyword</a:t>
            </a:r>
            <a:r>
              <a:rPr lang="en-US" sz="3500" b="1" dirty="0">
                <a:solidFill>
                  <a:schemeClr val="accent4">
                    <a:lumMod val="49000"/>
                  </a:schemeClr>
                </a:solidFill>
                <a:latin typeface="Times New Roman"/>
                <a:cs typeface="Times New Roman"/>
              </a:rPr>
              <a:t> </a:t>
            </a:r>
          </a:p>
          <a:p>
            <a:pPr marL="342900" indent="-342900">
              <a:buAutoNum type="arabicPeriod"/>
            </a:pPr>
            <a:r>
              <a:rPr lang="en-US" sz="3500" b="1" err="1">
                <a:solidFill>
                  <a:schemeClr val="accent4">
                    <a:lumMod val="49000"/>
                  </a:schemeClr>
                </a:solidFill>
                <a:latin typeface="Times New Roman"/>
                <a:cs typeface="Times New Roman"/>
              </a:rPr>
              <a:t>has_amenity_keyword</a:t>
            </a:r>
            <a:endParaRPr lang="en-US" sz="3500" b="1">
              <a:solidFill>
                <a:schemeClr val="accent4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 sz="3500" b="1" err="1">
                <a:solidFill>
                  <a:schemeClr val="accent4">
                    <a:lumMod val="49000"/>
                  </a:schemeClr>
                </a:solidFill>
                <a:latin typeface="Times New Roman"/>
                <a:cs typeface="Times New Roman"/>
              </a:rPr>
              <a:t>location_keyword</a:t>
            </a:r>
            <a:endParaRPr lang="en-US" sz="3500" b="1">
              <a:solidFill>
                <a:schemeClr val="accent4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 sz="3500" b="1" err="1">
                <a:solidFill>
                  <a:schemeClr val="accent4">
                    <a:lumMod val="49000"/>
                  </a:schemeClr>
                </a:solidFill>
                <a:latin typeface="Times New Roman"/>
                <a:cs typeface="Times New Roman"/>
              </a:rPr>
              <a:t>market_keyword</a:t>
            </a:r>
            <a:endParaRPr lang="en-US" sz="3500" b="1">
              <a:solidFill>
                <a:schemeClr val="accent4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7870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0B5E5-CE3B-CB4A-34CC-21960F11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7440-F8DE-72E6-5631-89EFE703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570" y="663725"/>
            <a:ext cx="8909605" cy="687900"/>
          </a:xfr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EDA Analysis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DD62779-E657-9DFF-4114-60CE9A5A32E3}"/>
              </a:ext>
            </a:extLst>
          </p:cNvPr>
          <p:cNvSpPr txBox="1">
            <a:spLocks/>
          </p:cNvSpPr>
          <p:nvPr/>
        </p:nvSpPr>
        <p:spPr>
          <a:xfrm>
            <a:off x="524764" y="2564243"/>
            <a:ext cx="3004105" cy="1203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600" dirty="0">
                <a:solidFill>
                  <a:srgbClr val="000000"/>
                </a:solidFill>
                <a:latin typeface="Times New Roman"/>
                <a:cs typeface="Times New Roman"/>
              </a:rPr>
              <a:t>Description Of Listings Is Written In 71 Variant Languages </a:t>
            </a:r>
          </a:p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BC4ED3-34B1-0881-BE19-2749DB92DF50}"/>
              </a:ext>
            </a:extLst>
          </p:cNvPr>
          <p:cNvSpPr txBox="1"/>
          <p:nvPr/>
        </p:nvSpPr>
        <p:spPr>
          <a:xfrm>
            <a:off x="526026" y="1717423"/>
            <a:ext cx="33793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dirty="0">
                <a:solidFill>
                  <a:srgbClr val="2BBBD7"/>
                </a:solidFill>
                <a:latin typeface="Times New Roman"/>
                <a:ea typeface="Times New Roman"/>
                <a:cs typeface="Times New Roman"/>
              </a:rPr>
              <a:t>◈</a:t>
            </a:r>
            <a:r>
              <a:rPr lang="en-US" b="1" i="0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Data Understanding Of </a:t>
            </a:r>
            <a:r>
              <a:rPr lang="en-US" b="1" dirty="0" err="1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desc_lang</a:t>
            </a:r>
            <a:r>
              <a:rPr lang="en-US" b="1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 Feature</a:t>
            </a:r>
            <a:endParaRPr lang="en-US" dirty="0" err="1"/>
          </a:p>
          <a:p>
            <a:pPr algn="ctr"/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D10DEBC-3C82-0BEA-4915-FE5812D41AAB}"/>
              </a:ext>
            </a:extLst>
          </p:cNvPr>
          <p:cNvSpPr txBox="1">
            <a:spLocks/>
          </p:cNvSpPr>
          <p:nvPr/>
        </p:nvSpPr>
        <p:spPr>
          <a:xfrm>
            <a:off x="4699199" y="5512850"/>
            <a:ext cx="7101234" cy="1115024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800" i="0" dirty="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🔎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 Insights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~ 41k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  Listings Description Are Written In </a:t>
            </a:r>
            <a:r>
              <a:rPr lang="en-US" sz="1600" b="1" dirty="0">
                <a:latin typeface="Times New Roman"/>
                <a:ea typeface="+mn-lt"/>
                <a:cs typeface="Times New Roman"/>
              </a:rPr>
              <a:t>English Language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  and </a:t>
            </a:r>
            <a:r>
              <a:rPr lang="en-US" sz="16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~2k 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In </a:t>
            </a:r>
            <a:r>
              <a:rPr lang="en-US" sz="1600" i="0" dirty="0">
                <a:ea typeface="+mj-lt"/>
                <a:cs typeface="+mj-lt"/>
              </a:rPr>
              <a:t>polish language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+mn-lt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37168F-523D-4707-4C6F-2A02890E1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0" y="1716914"/>
            <a:ext cx="7102061" cy="358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8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8AA95-7E5F-113B-FAF5-7E002CF0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4563A-A78E-01ED-95D1-1A5D068A9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570" y="663725"/>
            <a:ext cx="8909605" cy="687900"/>
          </a:xfr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EDA Analysis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581BB9-6AD3-1C81-99C9-5749D6F6B061}"/>
              </a:ext>
            </a:extLst>
          </p:cNvPr>
          <p:cNvSpPr txBox="1"/>
          <p:nvPr/>
        </p:nvSpPr>
        <p:spPr>
          <a:xfrm>
            <a:off x="526026" y="1717423"/>
            <a:ext cx="33793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dirty="0">
                <a:solidFill>
                  <a:srgbClr val="2BBBD7"/>
                </a:solidFill>
                <a:latin typeface="Times New Roman"/>
                <a:ea typeface="Times New Roman"/>
                <a:cs typeface="Times New Roman"/>
              </a:rPr>
              <a:t>◈</a:t>
            </a:r>
            <a:r>
              <a:rPr lang="en-US" b="1" i="0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Data Understanding </a:t>
            </a:r>
            <a:r>
              <a:rPr lang="en-US" b="1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has keywords Features</a:t>
            </a:r>
            <a:endParaRPr lang="en-US" dirty="0" err="1"/>
          </a:p>
          <a:p>
            <a:pPr algn="ctr"/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5F1EC47-AAD7-9380-01DC-C5F0D33F773F}"/>
              </a:ext>
            </a:extLst>
          </p:cNvPr>
          <p:cNvSpPr txBox="1">
            <a:spLocks/>
          </p:cNvSpPr>
          <p:nvPr/>
        </p:nvSpPr>
        <p:spPr>
          <a:xfrm>
            <a:off x="4668831" y="5753046"/>
            <a:ext cx="7112115" cy="1017256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 </a:t>
            </a:r>
            <a:endParaRPr lang="en-US" dirty="0">
              <a:solidFill>
                <a:srgbClr val="000000"/>
              </a:solidFill>
              <a:latin typeface="Georgia Pro Semibold"/>
              <a:cs typeface="Times New Roman"/>
            </a:endParaRPr>
          </a:p>
          <a:p>
            <a:pPr algn="ctr"/>
            <a:r>
              <a:rPr lang="en-US" sz="1800" i="0" dirty="0">
                <a:solidFill>
                  <a:schemeClr val="tx1">
                    <a:lumMod val="85000"/>
                    <a:lumOff val="15000"/>
                  </a:schemeClr>
                </a:solidFill>
                <a:latin typeface="Georgia Pro Semibold"/>
                <a:ea typeface="+mn-lt"/>
                <a:cs typeface="Times New Roman"/>
              </a:rPr>
              <a:t>🔎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Georgia Pro Semibold"/>
                <a:ea typeface="+mn-lt"/>
                <a:cs typeface="Times New Roman"/>
              </a:rPr>
              <a:t>Key Insights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200" b="1" i="0" dirty="0">
                <a:solidFill>
                  <a:schemeClr val="bg2">
                    <a:lumMod val="10000"/>
                  </a:schemeClr>
                </a:solidFill>
                <a:ea typeface="+mj-lt"/>
                <a:cs typeface="+mj-lt"/>
              </a:rPr>
              <a:t>-  </a:t>
            </a:r>
            <a:r>
              <a:rPr lang="en-US" sz="1200" i="0" dirty="0">
                <a:solidFill>
                  <a:schemeClr val="bg2">
                    <a:lumMod val="10000"/>
                  </a:schemeClr>
                </a:solidFill>
                <a:ea typeface="+mj-lt"/>
                <a:cs typeface="+mj-lt"/>
              </a:rPr>
              <a:t>Property, market, and room-related terminology</a:t>
            </a:r>
            <a:r>
              <a:rPr lang="en-US" sz="1200" b="1" i="0" dirty="0">
                <a:solidFill>
                  <a:schemeClr val="bg2">
                    <a:lumMod val="10000"/>
                  </a:schemeClr>
                </a:solidFill>
                <a:ea typeface="+mj-lt"/>
                <a:cs typeface="+mj-lt"/>
              </a:rPr>
              <a:t> </a:t>
            </a:r>
            <a:r>
              <a:rPr lang="en-US" sz="1200" i="0" dirty="0">
                <a:solidFill>
                  <a:schemeClr val="bg2">
                    <a:lumMod val="10000"/>
                  </a:schemeClr>
                </a:solidFill>
                <a:ea typeface="+mj-lt"/>
                <a:cs typeface="+mj-lt"/>
              </a:rPr>
              <a:t>appears frequently in listing descriptions, while explicit rental terminology is relatively uncommon And Which It Will Help While ML Modelling</a:t>
            </a:r>
            <a:endParaRPr lang="en-US" sz="1200">
              <a:solidFill>
                <a:schemeClr val="bg2">
                  <a:lumMod val="10000"/>
                </a:schemeClr>
              </a:solidFill>
              <a:latin typeface="Times New Roman"/>
              <a:ea typeface="+mj-lt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1BD97-52B3-3CE9-8B4D-3D87CAD2B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720" y="2490442"/>
            <a:ext cx="7111172" cy="317602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25285D-FD2B-4932-D8B5-87373F4CE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996974"/>
              </p:ext>
            </p:extLst>
          </p:nvPr>
        </p:nvGraphicFramePr>
        <p:xfrm>
          <a:off x="520810" y="2489333"/>
          <a:ext cx="3970998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499">
                  <a:extLst>
                    <a:ext uri="{9D8B030D-6E8A-4147-A177-3AD203B41FA5}">
                      <a16:colId xmlns:a16="http://schemas.microsoft.com/office/drawing/2014/main" val="3933044253"/>
                    </a:ext>
                  </a:extLst>
                </a:gridCol>
                <a:gridCol w="1985499">
                  <a:extLst>
                    <a:ext uri="{9D8B030D-6E8A-4147-A177-3AD203B41FA5}">
                      <a16:colId xmlns:a16="http://schemas.microsoft.com/office/drawing/2014/main" val="413697046"/>
                    </a:ext>
                  </a:extLst>
                </a:gridCol>
              </a:tblGrid>
              <a:tr h="28189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dirty="0">
                          <a:solidFill>
                            <a:schemeClr val="accent4">
                              <a:lumMod val="49000"/>
                            </a:schemeClr>
                          </a:solidFill>
                          <a:latin typeface="Avenir Next LT Pro"/>
                        </a:rPr>
                        <a:t>Feature</a:t>
                      </a:r>
                      <a:endParaRPr lang="en-US" sz="1600" b="1" dirty="0">
                        <a:solidFill>
                          <a:schemeClr val="accent4">
                            <a:lumMod val="49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accent4">
                              <a:lumMod val="49000"/>
                            </a:schemeClr>
                          </a:solidFill>
                        </a:rPr>
                        <a:t>View </a:t>
                      </a:r>
                      <a:r>
                        <a:rPr lang="en-US" sz="1600" b="1" i="0" u="none" strike="noStrike" noProof="0" dirty="0">
                          <a:solidFill>
                            <a:schemeClr val="accent4">
                              <a:lumMod val="49000"/>
                            </a:schemeClr>
                          </a:solidFill>
                          <a:latin typeface="Avenir Next LT Pro"/>
                        </a:rPr>
                        <a:t>Percentage</a:t>
                      </a:r>
                      <a:endParaRPr lang="en-US" sz="1600" b="1" dirty="0">
                        <a:solidFill>
                          <a:schemeClr val="accent4">
                            <a:lumMod val="49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730895"/>
                  </a:ext>
                </a:extLst>
              </a:tr>
              <a:tr h="24806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 err="1">
                          <a:latin typeface="Times New Roman"/>
                          <a:cs typeface="Times New Roman"/>
                        </a:rPr>
                        <a:t>has_prop_keyword</a:t>
                      </a:r>
                      <a:endParaRPr lang="en-US" sz="1400" b="1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  <a:cs typeface="Times New Roman"/>
                        </a:rPr>
                        <a:t>74.5%</a:t>
                      </a:r>
                      <a:endParaRPr lang="en-US" sz="1400" b="1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989790"/>
                  </a:ext>
                </a:extLst>
              </a:tr>
              <a:tr h="41720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has_market_keyword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62.6%</a:t>
                      </a:r>
                    </a:p>
                    <a:p>
                      <a:pPr lvl="0">
                        <a:buNone/>
                      </a:pPr>
                      <a:endParaRPr lang="en-US" sz="1400" b="1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705118"/>
                  </a:ext>
                </a:extLst>
              </a:tr>
              <a:tr h="41720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has_room_keyword</a:t>
                      </a:r>
                    </a:p>
                    <a:p>
                      <a:pPr lvl="0">
                        <a:buNone/>
                      </a:pPr>
                      <a:endParaRPr lang="en-US" sz="1400" b="1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60.0%</a:t>
                      </a:r>
                    </a:p>
                    <a:p>
                      <a:pPr lvl="0">
                        <a:buNone/>
                      </a:pPr>
                      <a:endParaRPr lang="en-US" sz="1400" b="1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581481"/>
                  </a:ext>
                </a:extLst>
              </a:tr>
              <a:tr h="41720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has_loc_keyword</a:t>
                      </a:r>
                      <a:endParaRPr lang="en-US" sz="1400" b="1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 b="1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40.3%</a:t>
                      </a:r>
                      <a:endParaRPr lang="en-US" sz="1400" b="1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 b="1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460502"/>
                  </a:ext>
                </a:extLst>
              </a:tr>
              <a:tr h="41720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has_amenity_keyword</a:t>
                      </a:r>
                    </a:p>
                    <a:p>
                      <a:pPr lvl="0">
                        <a:buNone/>
                      </a:pPr>
                      <a:endParaRPr lang="en-US" sz="1400" b="1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22.4%</a:t>
                      </a:r>
                    </a:p>
                    <a:p>
                      <a:pPr lvl="0">
                        <a:buNone/>
                      </a:pPr>
                      <a:endParaRPr lang="en-US" sz="1400" b="1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41100"/>
                  </a:ext>
                </a:extLst>
              </a:tr>
              <a:tr h="41720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has_rental_keyword</a:t>
                      </a:r>
                    </a:p>
                    <a:p>
                      <a:pPr lvl="0">
                        <a:buNone/>
                      </a:pPr>
                      <a:endParaRPr lang="en-US" sz="1400" b="1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2.5%</a:t>
                      </a:r>
                    </a:p>
                    <a:p>
                      <a:pPr lvl="0">
                        <a:buNone/>
                      </a:pPr>
                      <a:endParaRPr lang="en-US" sz="1400" b="1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307761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AB6A51D-7197-21EF-A81A-9F65EF20F5FA}"/>
              </a:ext>
            </a:extLst>
          </p:cNvPr>
          <p:cNvSpPr/>
          <p:nvPr/>
        </p:nvSpPr>
        <p:spPr>
          <a:xfrm>
            <a:off x="529636" y="5702621"/>
            <a:ext cx="3954937" cy="1124618"/>
          </a:xfrm>
          <a:prstGeom prst="roundRect">
            <a:avLst/>
          </a:prstGeom>
          <a:solidFill>
            <a:srgbClr val="EFD2D2"/>
          </a:solidFill>
          <a:ln>
            <a:solidFill>
              <a:srgbClr val="DBCA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4">
                    <a:lumMod val="49000"/>
                  </a:schemeClr>
                </a:solidFill>
                <a:latin typeface="Times New Roman"/>
                <a:cs typeface="Times New Roman"/>
              </a:rPr>
              <a:t>Property Keywords </a:t>
            </a:r>
          </a:p>
          <a:p>
            <a:pPr algn="ctr"/>
            <a:endParaRPr lang="en-US" sz="1400" b="1" dirty="0">
              <a:solidFill>
                <a:schemeClr val="accent4">
                  <a:lumMod val="49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'apartment' ,'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apt','flat','home','house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', '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room','studio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',</a:t>
            </a:r>
            <a:endParaRPr lang="en-US" sz="1400" dirty="0">
              <a:solidFill>
                <a:schemeClr val="bg2">
                  <a:lumMod val="10000"/>
                </a:schemeClr>
              </a:solidFill>
              <a:latin typeface="Avenir Next LT Pro"/>
              <a:cs typeface="Times New Roman"/>
            </a:endParaRPr>
          </a:p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'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loft','suite','condo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', '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condominium','townhouse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' , others...</a:t>
            </a:r>
          </a:p>
        </p:txBody>
      </p:sp>
    </p:spTree>
    <p:extLst>
      <p:ext uri="{BB962C8B-B14F-4D97-AF65-F5344CB8AC3E}">
        <p14:creationId xmlns:p14="http://schemas.microsoft.com/office/powerpoint/2010/main" val="458544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0AC6F-D90B-4556-967D-C8CAEAB9D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2FA3-7377-8585-D00B-3BC6C0BF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570" y="663725"/>
            <a:ext cx="8909605" cy="687900"/>
          </a:xfr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EDA Analysis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05A91C5-B0EA-F448-D1A5-B440D6323A55}"/>
              </a:ext>
            </a:extLst>
          </p:cNvPr>
          <p:cNvSpPr txBox="1">
            <a:spLocks/>
          </p:cNvSpPr>
          <p:nvPr/>
        </p:nvSpPr>
        <p:spPr>
          <a:xfrm>
            <a:off x="524764" y="2453808"/>
            <a:ext cx="3004105" cy="1092937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600" dirty="0">
                <a:solidFill>
                  <a:srgbClr val="000000"/>
                </a:solidFill>
                <a:latin typeface="Times New Roman"/>
                <a:cs typeface="Times New Roman"/>
              </a:rPr>
              <a:t>There Is 21 Missing Values 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F11D3B-61BE-9806-F983-B00EAD7557E7}"/>
              </a:ext>
            </a:extLst>
          </p:cNvPr>
          <p:cNvSpPr txBox="1"/>
          <p:nvPr/>
        </p:nvSpPr>
        <p:spPr>
          <a:xfrm>
            <a:off x="526026" y="1714500"/>
            <a:ext cx="335624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dirty="0">
                <a:solidFill>
                  <a:srgbClr val="2BBBD7"/>
                </a:solidFill>
                <a:latin typeface="Times New Roman"/>
                <a:ea typeface="Times New Roman"/>
                <a:cs typeface="Times New Roman"/>
              </a:rPr>
              <a:t>◈</a:t>
            </a:r>
            <a:r>
              <a:rPr lang="en-US" b="1" i="0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Data Understanding Of </a:t>
            </a:r>
            <a:r>
              <a:rPr lang="en-US" b="1" dirty="0" err="1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host_name</a:t>
            </a:r>
            <a:r>
              <a:rPr lang="en-US" b="1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 Feature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3394B2A-99FB-1E48-D1D7-1557129CCB6D}"/>
              </a:ext>
            </a:extLst>
          </p:cNvPr>
          <p:cNvSpPr txBox="1">
            <a:spLocks/>
          </p:cNvSpPr>
          <p:nvPr/>
        </p:nvSpPr>
        <p:spPr>
          <a:xfrm>
            <a:off x="524764" y="3556694"/>
            <a:ext cx="3004105" cy="1037719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2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4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600" dirty="0">
                <a:latin typeface="Times New Roman"/>
                <a:cs typeface="Times New Roman"/>
              </a:rPr>
              <a:t>Unique Hosts  Is </a:t>
            </a:r>
            <a:r>
              <a:rPr lang="en-US" sz="2600" dirty="0">
                <a:solidFill>
                  <a:srgbClr val="000000"/>
                </a:solidFill>
                <a:latin typeface="Times New Roman"/>
                <a:cs typeface="Times New Roman"/>
              </a:rPr>
              <a:t>11452 Name </a:t>
            </a:r>
            <a:endParaRPr lang="en-US" sz="2600" b="1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C1DB0E18-E7DE-17D5-8677-60AAC4F1D25E}"/>
              </a:ext>
            </a:extLst>
          </p:cNvPr>
          <p:cNvSpPr txBox="1">
            <a:spLocks/>
          </p:cNvSpPr>
          <p:nvPr/>
        </p:nvSpPr>
        <p:spPr>
          <a:xfrm>
            <a:off x="4522503" y="3721369"/>
            <a:ext cx="7101234" cy="2478893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800" i="0" dirty="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🔎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 Insights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The Most Frequent Ten Hosts In That Dataset Provided Renting Of Their Houses Was Just Individual Persons. (One Host Raised Rentals On Airbnb In US New York City ) Are Presented In Visualized Charts In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Jubyter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Python Notebook.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  <a:cs typeface="Times New Roman"/>
              </a:rPr>
              <a:t>Multiple Hosts Provided Rentals Greater Than Single Hosts Where Number Of Rentals Provided By Multiples Are </a:t>
            </a:r>
            <a:r>
              <a:rPr lang="en-US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48587</a:t>
            </a:r>
            <a:r>
              <a:rPr lang="en-US" sz="1600" dirty="0">
                <a:solidFill>
                  <a:srgbClr val="000000"/>
                </a:solidFill>
                <a:latin typeface="Times New Roman"/>
                <a:cs typeface="Times New Roman"/>
              </a:rPr>
              <a:t> Listings While Singles </a:t>
            </a:r>
            <a:r>
              <a:rPr lang="en-US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296.</a:t>
            </a:r>
            <a:endParaRPr lang="en-US" sz="1000" b="1" i="0" dirty="0">
              <a:solidFill>
                <a:srgbClr val="FF0000"/>
              </a:solidFill>
              <a:highlight>
                <a:srgbClr val="111111"/>
              </a:highlight>
              <a:latin typeface="Consolas"/>
              <a:cs typeface="Times New Roman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B26814-11EB-6B9D-F924-09A774921FD2}"/>
              </a:ext>
            </a:extLst>
          </p:cNvPr>
          <p:cNvSpPr txBox="1">
            <a:spLocks/>
          </p:cNvSpPr>
          <p:nvPr/>
        </p:nvSpPr>
        <p:spPr>
          <a:xfrm>
            <a:off x="4522503" y="2183242"/>
            <a:ext cx="7101234" cy="1384289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800" i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What's Happened In Data Cleaning Process?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There Is Special Characters In Host Names  And All Had Been Deleted To Show Those Names In Clearer View.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Replacing All Nan Values With 'Unknown'.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010DB3-A923-82AC-92F7-4332780436CC}"/>
              </a:ext>
            </a:extLst>
          </p:cNvPr>
          <p:cNvSpPr txBox="1">
            <a:spLocks/>
          </p:cNvSpPr>
          <p:nvPr/>
        </p:nvSpPr>
        <p:spPr>
          <a:xfrm>
            <a:off x="524764" y="5702374"/>
            <a:ext cx="3004105" cy="1035772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800" i="0" dirty="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Extracted Features </a:t>
            </a:r>
            <a:endParaRPr 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2300" b="1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 sz="1400" b="1" dirty="0" err="1">
                <a:solidFill>
                  <a:schemeClr val="accent4">
                    <a:lumMod val="49000"/>
                  </a:schemeClr>
                </a:solidFill>
                <a:latin typeface="Times New Roman"/>
                <a:cs typeface="Times New Roman"/>
              </a:rPr>
              <a:t>host_count</a:t>
            </a:r>
            <a:endParaRPr lang="en-US" sz="1400">
              <a:solidFill>
                <a:schemeClr val="accent4">
                  <a:lumMod val="49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8962E70-0820-BE9D-E9A0-A7E7ED58A177}"/>
              </a:ext>
            </a:extLst>
          </p:cNvPr>
          <p:cNvSpPr txBox="1">
            <a:spLocks/>
          </p:cNvSpPr>
          <p:nvPr/>
        </p:nvSpPr>
        <p:spPr>
          <a:xfrm>
            <a:off x="524764" y="4598841"/>
            <a:ext cx="3004105" cy="1037719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2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4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600" dirty="0">
                <a:latin typeface="Times New Roman"/>
                <a:cs typeface="Times New Roman"/>
              </a:rPr>
              <a:t>Most Frequent Host Is </a:t>
            </a:r>
            <a:r>
              <a:rPr lang="en-US" sz="2600" b="1" dirty="0">
                <a:latin typeface="Times New Roman"/>
                <a:cs typeface="Times New Roman"/>
              </a:rPr>
              <a:t>Michael</a:t>
            </a:r>
            <a:r>
              <a:rPr lang="en-US" sz="2600" dirty="0">
                <a:latin typeface="Times New Roman"/>
                <a:cs typeface="Times New Roman"/>
              </a:rPr>
              <a:t> with 417 time </a:t>
            </a:r>
            <a:endParaRPr lang="en-US" sz="29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27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526B1-C71D-973F-AE6B-64D47ED1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97823-C2A6-AC87-8DD8-F6CEE5DB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4278637"/>
            <a:ext cx="5512288" cy="18974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Mapping Listing Locations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C5D10-152B-1A36-7DE0-D57820B6C5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64" r="1" b="15448"/>
          <a:stretch>
            <a:fillRect/>
          </a:stretch>
        </p:blipFill>
        <p:spPr>
          <a:xfrm>
            <a:off x="555170" y="481586"/>
            <a:ext cx="11087101" cy="3431928"/>
          </a:xfrm>
          <a:prstGeom prst="rect">
            <a:avLst/>
          </a:prstGeom>
        </p:spPr>
      </p:pic>
      <p:grpSp>
        <p:nvGrpSpPr>
          <p:cNvPr id="94" name="Graphic 78">
            <a:extLst>
              <a:ext uri="{FF2B5EF4-FFF2-40B4-BE49-F238E27FC236}">
                <a16:creationId xmlns:a16="http://schemas.microsoft.com/office/drawing/2014/main" id="{554A72DC-6122-426C-9473-FE48DFBD1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63724" y="42786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5" name="Graphic 78">
              <a:extLst>
                <a:ext uri="{FF2B5EF4-FFF2-40B4-BE49-F238E27FC236}">
                  <a16:creationId xmlns:a16="http://schemas.microsoft.com/office/drawing/2014/main" id="{FC2789D7-C243-446F-8C4A-3C3B673CF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6" name="Graphic 78">
              <a:extLst>
                <a:ext uri="{FF2B5EF4-FFF2-40B4-BE49-F238E27FC236}">
                  <a16:creationId xmlns:a16="http://schemas.microsoft.com/office/drawing/2014/main" id="{7BFC7F62-86A1-4E98-B4C1-E6E050894F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7" name="Graphic 78">
                <a:extLst>
                  <a:ext uri="{FF2B5EF4-FFF2-40B4-BE49-F238E27FC236}">
                    <a16:creationId xmlns:a16="http://schemas.microsoft.com/office/drawing/2014/main" id="{8F4903DE-F756-4685-AA3E-D6F6DFCD6A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Graphic 78">
                <a:extLst>
                  <a:ext uri="{FF2B5EF4-FFF2-40B4-BE49-F238E27FC236}">
                    <a16:creationId xmlns:a16="http://schemas.microsoft.com/office/drawing/2014/main" id="{ACAA5D31-8D54-4B6B-B297-478B664437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Graphic 78">
                <a:extLst>
                  <a:ext uri="{FF2B5EF4-FFF2-40B4-BE49-F238E27FC236}">
                    <a16:creationId xmlns:a16="http://schemas.microsoft.com/office/drawing/2014/main" id="{A4C6C8D7-9B82-4E2C-A29A-D739C1EB2B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Graphic 78">
                <a:extLst>
                  <a:ext uri="{FF2B5EF4-FFF2-40B4-BE49-F238E27FC236}">
                    <a16:creationId xmlns:a16="http://schemas.microsoft.com/office/drawing/2014/main" id="{1F47E503-8030-4E7E-8460-A711BE5672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88ED925E-2ED9-26B1-3A14-314FD297EB99}"/>
              </a:ext>
            </a:extLst>
          </p:cNvPr>
          <p:cNvSpPr txBox="1">
            <a:spLocks/>
          </p:cNvSpPr>
          <p:nvPr/>
        </p:nvSpPr>
        <p:spPr>
          <a:xfrm>
            <a:off x="6444040" y="4544915"/>
            <a:ext cx="5198232" cy="16273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buFont typeface="Arial" panose="020B0604020202020204" pitchFamily="34" charset="0"/>
            </a:pPr>
            <a:endParaRPr lang="en-US" sz="1700"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</a:pPr>
            <a:r>
              <a:rPr lang="en-US" sz="1700" b="1" i="0" dirty="0">
                <a:latin typeface="+mn-lt"/>
                <a:ea typeface="+mn-ea"/>
                <a:cs typeface="+mn-cs"/>
              </a:rPr>
              <a:t>🔎</a:t>
            </a:r>
            <a:r>
              <a:rPr lang="en-US" sz="1700" b="1" dirty="0">
                <a:latin typeface="+mn-lt"/>
                <a:ea typeface="+mn-ea"/>
                <a:cs typeface="+mn-cs"/>
              </a:rPr>
              <a:t>Key Insights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</a:pPr>
            <a:endParaRPr lang="en-US" sz="1700">
              <a:latin typeface="+mn-lt"/>
              <a:ea typeface="+mn-ea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ea typeface="+mn-ea"/>
                <a:cs typeface="+mn-cs"/>
              </a:rPr>
              <a:t>The Listing Locations Are Spread In All Five Boroughs At New York City   </a:t>
            </a:r>
          </a:p>
        </p:txBody>
      </p:sp>
    </p:spTree>
    <p:extLst>
      <p:ext uri="{BB962C8B-B14F-4D97-AF65-F5344CB8AC3E}">
        <p14:creationId xmlns:p14="http://schemas.microsoft.com/office/powerpoint/2010/main" val="2428068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9BB5DA-96B3-8215-3437-EAC94C51D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471A0-E7D0-AC26-9DEC-B2606855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570" y="663725"/>
            <a:ext cx="8909605" cy="687900"/>
          </a:xfr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EDA Analysis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6DA94DC-F357-05E4-D915-7E98573E76A9}"/>
              </a:ext>
            </a:extLst>
          </p:cNvPr>
          <p:cNvSpPr txBox="1">
            <a:spLocks/>
          </p:cNvSpPr>
          <p:nvPr/>
        </p:nvSpPr>
        <p:spPr>
          <a:xfrm>
            <a:off x="524764" y="2564243"/>
            <a:ext cx="3004105" cy="1203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There Is No Missing Values</a:t>
            </a:r>
            <a:r>
              <a:rPr lang="en-US" sz="26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3B2FF3-55C7-14DF-DFC3-EAE2F8817567}"/>
              </a:ext>
            </a:extLst>
          </p:cNvPr>
          <p:cNvSpPr txBox="1"/>
          <p:nvPr/>
        </p:nvSpPr>
        <p:spPr>
          <a:xfrm>
            <a:off x="526026" y="1717423"/>
            <a:ext cx="33793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dirty="0">
                <a:solidFill>
                  <a:srgbClr val="2BBBD7"/>
                </a:solidFill>
                <a:latin typeface="Times New Roman"/>
                <a:ea typeface="Times New Roman"/>
                <a:cs typeface="Times New Roman"/>
              </a:rPr>
              <a:t>◈</a:t>
            </a:r>
            <a:r>
              <a:rPr lang="en-US" b="1" i="0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Data Understanding Of </a:t>
            </a:r>
            <a:r>
              <a:rPr lang="en-US" b="1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nighbourhood_group</a:t>
            </a:r>
            <a:r>
              <a:rPr lang="en-US" b="1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 Feature</a:t>
            </a:r>
            <a:endParaRPr lang="en-US" dirty="0" err="1"/>
          </a:p>
          <a:p>
            <a:pPr algn="ctr"/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2A55DAE-351C-6EBD-99A1-4AF14D91B8A0}"/>
              </a:ext>
            </a:extLst>
          </p:cNvPr>
          <p:cNvSpPr txBox="1">
            <a:spLocks/>
          </p:cNvSpPr>
          <p:nvPr/>
        </p:nvSpPr>
        <p:spPr>
          <a:xfrm>
            <a:off x="4489373" y="5126328"/>
            <a:ext cx="7101234" cy="1457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1800" i="0" dirty="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🔎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 Insights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This Feature Is A Categorical Variable Consisting Of Five Boroughs (Manhattan , Brooklyn , Queens , Bronx And Staten Island ) 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Most Two Boroughs Where Rentals Number Is Highest Are </a:t>
            </a:r>
            <a:r>
              <a:rPr lang="en-US" sz="16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Manhattan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And </a:t>
            </a:r>
            <a:r>
              <a:rPr lang="en-US" sz="16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Brooklyn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And Therefore Airbnb Activity Is Concerned With Two Previous Boroughs 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56446F-2AD9-824D-F23D-686061178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802" y="1548848"/>
            <a:ext cx="8267700" cy="3429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A837F96-1B29-3643-048F-9EBBB839FB94}"/>
              </a:ext>
            </a:extLst>
          </p:cNvPr>
          <p:cNvSpPr txBox="1">
            <a:spLocks/>
          </p:cNvSpPr>
          <p:nvPr/>
        </p:nvSpPr>
        <p:spPr>
          <a:xfrm>
            <a:off x="403286" y="4121373"/>
            <a:ext cx="3004105" cy="1203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There Are Only Five Unique Boroughs</a:t>
            </a:r>
            <a:r>
              <a:rPr lang="en-US" sz="26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251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557D2D-6C07-6DC5-9384-9A414F84D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" name="Rectangle 117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948B1A-EAA0-A895-6E8A-3303E8FA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75402"/>
            <a:ext cx="5512288" cy="17393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Listings Number Progress Over Years </a:t>
            </a:r>
          </a:p>
        </p:txBody>
      </p:sp>
      <p:grpSp>
        <p:nvGrpSpPr>
          <p:cNvPr id="119" name="Graphic 78">
            <a:extLst>
              <a:ext uri="{FF2B5EF4-FFF2-40B4-BE49-F238E27FC236}">
                <a16:creationId xmlns:a16="http://schemas.microsoft.com/office/drawing/2014/main" id="{2EDC2578-BDB0-4118-975D-CFCE02823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63724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08" name="Graphic 78">
              <a:extLst>
                <a:ext uri="{FF2B5EF4-FFF2-40B4-BE49-F238E27FC236}">
                  <a16:creationId xmlns:a16="http://schemas.microsoft.com/office/drawing/2014/main" id="{FB6536F0-4A9C-46C9-96E9-22CBB33E6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9" name="Graphic 78">
              <a:extLst>
                <a:ext uri="{FF2B5EF4-FFF2-40B4-BE49-F238E27FC236}">
                  <a16:creationId xmlns:a16="http://schemas.microsoft.com/office/drawing/2014/main" id="{DFD6A33A-F889-42D7-ADC2-DD9B88DF0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0" name="Graphic 78">
                <a:extLst>
                  <a:ext uri="{FF2B5EF4-FFF2-40B4-BE49-F238E27FC236}">
                    <a16:creationId xmlns:a16="http://schemas.microsoft.com/office/drawing/2014/main" id="{C375AFD7-9E86-4D19-B86E-C936D33B0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Graphic 78">
                <a:extLst>
                  <a:ext uri="{FF2B5EF4-FFF2-40B4-BE49-F238E27FC236}">
                    <a16:creationId xmlns:a16="http://schemas.microsoft.com/office/drawing/2014/main" id="{4102C78E-31A2-4DB3-8790-415EB0B48A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Graphic 78">
                <a:extLst>
                  <a:ext uri="{FF2B5EF4-FFF2-40B4-BE49-F238E27FC236}">
                    <a16:creationId xmlns:a16="http://schemas.microsoft.com/office/drawing/2014/main" id="{4F3E144D-8167-438A-B67F-50F5D9C0C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Graphic 78">
                <a:extLst>
                  <a:ext uri="{FF2B5EF4-FFF2-40B4-BE49-F238E27FC236}">
                    <a16:creationId xmlns:a16="http://schemas.microsoft.com/office/drawing/2014/main" id="{4BE2135F-02C1-449F-B195-232E9AFDD6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AF8CD2DE-40B8-CECF-24E3-373013DA1338}"/>
              </a:ext>
            </a:extLst>
          </p:cNvPr>
          <p:cNvSpPr txBox="1">
            <a:spLocks/>
          </p:cNvSpPr>
          <p:nvPr/>
        </p:nvSpPr>
        <p:spPr>
          <a:xfrm>
            <a:off x="6444040" y="1114691"/>
            <a:ext cx="4159233" cy="157553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buFont typeface="Arial" panose="020B0604020202020204" pitchFamily="34" charset="0"/>
            </a:pPr>
            <a:endParaRPr lang="en-US" sz="1400"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</a:pPr>
            <a:r>
              <a:rPr lang="en-US" sz="1400" b="1" i="0" dirty="0">
                <a:latin typeface="+mn-lt"/>
                <a:ea typeface="+mn-ea"/>
                <a:cs typeface="+mn-cs"/>
              </a:rPr>
              <a:t>🔎</a:t>
            </a:r>
            <a:r>
              <a:rPr lang="en-US" sz="1400" b="1" dirty="0">
                <a:latin typeface="+mn-lt"/>
                <a:ea typeface="+mn-ea"/>
                <a:cs typeface="+mn-cs"/>
              </a:rPr>
              <a:t>Key Insights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</a:pPr>
            <a:endParaRPr lang="en-US" sz="1400">
              <a:latin typeface="+mn-lt"/>
              <a:ea typeface="+mn-ea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ea typeface="+mn-ea"/>
                <a:cs typeface="+mn-cs"/>
              </a:rPr>
              <a:t>Number Of Listings Increases  Over Years From 2011 To 2019 Where Highest Number Of Listings Was Provided In Year 2019.  </a:t>
            </a:r>
            <a:endParaRPr lang="en-US" sz="1400" dirty="0">
              <a:latin typeface="Avenir Next LT Pr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8C3BEE-3E27-278C-9513-77AC3E0CF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11" y="2814628"/>
            <a:ext cx="10090565" cy="343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4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9B946-F0EC-3D1D-521D-6359C2308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06AE-2AF7-267E-0FB3-4D8359FD8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570" y="663725"/>
            <a:ext cx="8909605" cy="687900"/>
          </a:xfr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EDA Analysis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05D9501-A9C6-9AEA-A78E-20978473DAA1}"/>
              </a:ext>
            </a:extLst>
          </p:cNvPr>
          <p:cNvSpPr txBox="1">
            <a:spLocks/>
          </p:cNvSpPr>
          <p:nvPr/>
        </p:nvSpPr>
        <p:spPr>
          <a:xfrm>
            <a:off x="524764" y="2564243"/>
            <a:ext cx="3004105" cy="1203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There Is No Missing Values</a:t>
            </a:r>
            <a:r>
              <a:rPr lang="en-US" sz="26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74B9A6-BC1F-7549-3567-0761829A9A7A}"/>
              </a:ext>
            </a:extLst>
          </p:cNvPr>
          <p:cNvSpPr txBox="1"/>
          <p:nvPr/>
        </p:nvSpPr>
        <p:spPr>
          <a:xfrm>
            <a:off x="526026" y="1717423"/>
            <a:ext cx="33793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dirty="0">
                <a:solidFill>
                  <a:srgbClr val="2BBBD7"/>
                </a:solidFill>
                <a:latin typeface="Times New Roman"/>
                <a:ea typeface="Times New Roman"/>
                <a:cs typeface="Times New Roman"/>
              </a:rPr>
              <a:t>◈</a:t>
            </a:r>
            <a:r>
              <a:rPr lang="en-US" b="1" i="0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Data Understanding </a:t>
            </a:r>
            <a:r>
              <a:rPr lang="en-US" b="1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Of </a:t>
            </a:r>
            <a:r>
              <a:rPr lang="en-US" b="1" dirty="0" err="1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room_type</a:t>
            </a:r>
            <a:r>
              <a:rPr lang="en-US" b="1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 Feature</a:t>
            </a:r>
            <a:endParaRPr lang="en-US" dirty="0" err="1"/>
          </a:p>
          <a:p>
            <a:pPr algn="ctr"/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E71CE971-35E4-EE6A-1FD7-7B63112A5FFE}"/>
              </a:ext>
            </a:extLst>
          </p:cNvPr>
          <p:cNvSpPr txBox="1">
            <a:spLocks/>
          </p:cNvSpPr>
          <p:nvPr/>
        </p:nvSpPr>
        <p:spPr>
          <a:xfrm>
            <a:off x="4489373" y="5126328"/>
            <a:ext cx="7101234" cy="1457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endParaRPr lang="en-US"/>
          </a:p>
          <a:p>
            <a:pPr algn="ctr">
              <a:spcBef>
                <a:spcPts val="0"/>
              </a:spcBef>
            </a:pPr>
            <a:r>
              <a:rPr lang="en-US" sz="1800" i="0" dirty="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🔎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 Insights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>
              <a:spcBef>
                <a:spcPts val="0"/>
              </a:spcBef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The Most Frequent Room Type Is</a:t>
            </a:r>
            <a:r>
              <a:rPr lang="en-US" sz="16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Entire home/apt</a:t>
            </a:r>
            <a:r>
              <a:rPr lang="en-US" sz="1600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Where The Average Of Renting Price Is </a:t>
            </a:r>
            <a:r>
              <a:rPr lang="en-US" sz="16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212.81 USA Dolar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+mn-lt"/>
                <a:cs typeface="Times New Roman"/>
              </a:rPr>
              <a:t>And  Maximum Price Was In That Room Type Is  </a:t>
            </a:r>
            <a:r>
              <a:rPr lang="en-US" sz="16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10 USA Dolar</a:t>
            </a:r>
            <a:endParaRPr lang="en-US" dirty="0" err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4B70AD-C0EA-69BF-48CE-D956C6BF242C}"/>
              </a:ext>
            </a:extLst>
          </p:cNvPr>
          <p:cNvSpPr txBox="1">
            <a:spLocks/>
          </p:cNvSpPr>
          <p:nvPr/>
        </p:nvSpPr>
        <p:spPr>
          <a:xfrm>
            <a:off x="526549" y="3930874"/>
            <a:ext cx="3004107" cy="1203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marL="285750" indent="-285750">
              <a:buFont typeface="Wingdings"/>
              <a:buChar char="ü"/>
            </a:pPr>
            <a:r>
              <a:rPr lang="en-US" sz="2200" dirty="0">
                <a:latin typeface="Times New Roman"/>
                <a:cs typeface="Times New Roman"/>
              </a:rPr>
              <a:t>There Is Three Unique Room Types</a:t>
            </a:r>
          </a:p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B166A4-D792-4012-809D-4930A4E0343D}"/>
              </a:ext>
            </a:extLst>
          </p:cNvPr>
          <p:cNvSpPr txBox="1">
            <a:spLocks/>
          </p:cNvSpPr>
          <p:nvPr/>
        </p:nvSpPr>
        <p:spPr>
          <a:xfrm>
            <a:off x="526551" y="5264373"/>
            <a:ext cx="3004105" cy="1203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200" dirty="0">
                <a:latin typeface="Times New Roman"/>
                <a:cs typeface="Times New Roman"/>
              </a:rPr>
              <a:t>Most Frequent Room Type Is Entire Home</a:t>
            </a:r>
          </a:p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B874BA-2884-3259-5072-E807683AA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689" y="1453962"/>
            <a:ext cx="7486651" cy="351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83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9B946-F0EC-3D1D-521D-6359C2308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06AE-2AF7-267E-0FB3-4D8359FD8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570" y="663725"/>
            <a:ext cx="8909605" cy="687900"/>
          </a:xfr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EDA Analysis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05D9501-A9C6-9AEA-A78E-20978473DAA1}"/>
              </a:ext>
            </a:extLst>
          </p:cNvPr>
          <p:cNvSpPr txBox="1">
            <a:spLocks/>
          </p:cNvSpPr>
          <p:nvPr/>
        </p:nvSpPr>
        <p:spPr>
          <a:xfrm>
            <a:off x="524764" y="2564243"/>
            <a:ext cx="3004105" cy="1203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There Is No Missing Values</a:t>
            </a:r>
            <a:r>
              <a:rPr lang="en-US" sz="26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74B9A6-BC1F-7549-3567-0761829A9A7A}"/>
              </a:ext>
            </a:extLst>
          </p:cNvPr>
          <p:cNvSpPr txBox="1"/>
          <p:nvPr/>
        </p:nvSpPr>
        <p:spPr>
          <a:xfrm>
            <a:off x="526026" y="1717423"/>
            <a:ext cx="33793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dirty="0">
                <a:solidFill>
                  <a:srgbClr val="2BBBD7"/>
                </a:solidFill>
                <a:latin typeface="Times New Roman"/>
                <a:ea typeface="Times New Roman"/>
                <a:cs typeface="Times New Roman"/>
              </a:rPr>
              <a:t>◈</a:t>
            </a:r>
            <a:r>
              <a:rPr lang="en-US" b="1" i="0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Data Understanding </a:t>
            </a:r>
            <a:r>
              <a:rPr lang="en-US" b="1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Of </a:t>
            </a:r>
            <a:r>
              <a:rPr lang="en-US" b="1" dirty="0" err="1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room_type</a:t>
            </a:r>
            <a:r>
              <a:rPr lang="en-US" b="1" dirty="0">
                <a:solidFill>
                  <a:srgbClr val="31333F"/>
                </a:solidFill>
                <a:latin typeface="Times New Roman"/>
                <a:ea typeface="Times New Roman"/>
                <a:cs typeface="Times New Roman"/>
              </a:rPr>
              <a:t> Feature</a:t>
            </a:r>
            <a:endParaRPr lang="en-US" dirty="0" err="1"/>
          </a:p>
          <a:p>
            <a:pPr algn="ctr"/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E71CE971-35E4-EE6A-1FD7-7B63112A5FFE}"/>
              </a:ext>
            </a:extLst>
          </p:cNvPr>
          <p:cNvSpPr txBox="1">
            <a:spLocks/>
          </p:cNvSpPr>
          <p:nvPr/>
        </p:nvSpPr>
        <p:spPr>
          <a:xfrm>
            <a:off x="4842764" y="5137371"/>
            <a:ext cx="7101234" cy="1556762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endParaRPr lang="en-US"/>
          </a:p>
          <a:p>
            <a:pPr algn="ctr">
              <a:spcBef>
                <a:spcPts val="0"/>
              </a:spcBef>
            </a:pPr>
            <a:r>
              <a:rPr lang="en-US" sz="1800" i="0" dirty="0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🔎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 Insights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>
              <a:spcBef>
                <a:spcPts val="0"/>
              </a:spcBef>
            </a:pP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The Host Providing Highest Number Of Listings Are </a:t>
            </a:r>
            <a:r>
              <a:rPr lang="en-US" sz="16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Sonder(NYC)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  With </a:t>
            </a:r>
            <a:r>
              <a:rPr lang="en-US" sz="16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327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Renting Accommodation And </a:t>
            </a:r>
            <a:r>
              <a:rPr lang="en-US" sz="16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Sonder(NYC)</a:t>
            </a:r>
            <a:r>
              <a:rPr lang="en-US" sz="1600" dirty="0">
                <a:latin typeface="Times New Roman"/>
                <a:ea typeface="+mn-lt"/>
                <a:cs typeface="Times New Roman"/>
              </a:rPr>
              <a:t> Is One Of Most Popular Companies Providing short-term Rentals In New York City. 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4B70AD-C0EA-69BF-48CE-D956C6BF242C}"/>
              </a:ext>
            </a:extLst>
          </p:cNvPr>
          <p:cNvSpPr txBox="1">
            <a:spLocks/>
          </p:cNvSpPr>
          <p:nvPr/>
        </p:nvSpPr>
        <p:spPr>
          <a:xfrm>
            <a:off x="526549" y="3930874"/>
            <a:ext cx="3004107" cy="1203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marL="285750" indent="-285750">
              <a:buFont typeface="Wingdings"/>
              <a:buChar char="ü"/>
            </a:pPr>
            <a:r>
              <a:rPr lang="en-US" sz="2200" dirty="0">
                <a:latin typeface="Times New Roman"/>
                <a:cs typeface="Times New Roman"/>
              </a:rPr>
              <a:t>Less Number of Listings Which Host Provided Is 1 accommodation</a:t>
            </a:r>
            <a:endParaRPr lang="en-US" dirty="0" err="1"/>
          </a:p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B166A4-D792-4012-809D-4930A4E0343D}"/>
              </a:ext>
            </a:extLst>
          </p:cNvPr>
          <p:cNvSpPr txBox="1">
            <a:spLocks/>
          </p:cNvSpPr>
          <p:nvPr/>
        </p:nvSpPr>
        <p:spPr>
          <a:xfrm>
            <a:off x="526551" y="5264373"/>
            <a:ext cx="3004105" cy="1203371"/>
          </a:xfrm>
          <a:prstGeom prst="rect">
            <a:avLst/>
          </a:prstGeom>
          <a:solidFill>
            <a:srgbClr val="EBE5E3">
              <a:alpha val="40000"/>
            </a:srgbClr>
          </a:solidFill>
          <a:ln>
            <a:noFill/>
          </a:ln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Metric  </a:t>
            </a:r>
          </a:p>
          <a:p>
            <a:pPr algn="ctr"/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Georgia Pro Semibold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200" dirty="0">
                <a:latin typeface="Times New Roman"/>
                <a:cs typeface="Times New Roman"/>
              </a:rPr>
              <a:t>Maximum Number Of Listings Which Hos Provided Is 327 Listings </a:t>
            </a:r>
          </a:p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2B3C41-2EFA-E7D4-9A75-0240559D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306" y="1716571"/>
            <a:ext cx="7132431" cy="375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9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818D0-9047-CB59-42AB-9369D61F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6F235-6967-B0A2-3AB4-56503907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1" y="976160"/>
            <a:ext cx="4767930" cy="1848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Distribution Of   Distance(From City Center ) And Price </a:t>
            </a:r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13E5F285-BD95-4989-B20B-778990159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21648"/>
            <a:ext cx="1839951" cy="1423657"/>
          </a:xfrm>
          <a:custGeom>
            <a:avLst/>
            <a:gdLst>
              <a:gd name="connsiteX0" fmla="*/ 0 w 2331138"/>
              <a:gd name="connsiteY0" fmla="*/ 0 h 3352676"/>
              <a:gd name="connsiteX1" fmla="*/ 2331138 w 2331138"/>
              <a:gd name="connsiteY1" fmla="*/ 0 h 3352676"/>
              <a:gd name="connsiteX2" fmla="*/ 2331138 w 2331138"/>
              <a:gd name="connsiteY2" fmla="*/ 3352676 h 3352676"/>
              <a:gd name="connsiteX3" fmla="*/ 2097210 w 2331138"/>
              <a:gd name="connsiteY3" fmla="*/ 3226228 h 3352676"/>
              <a:gd name="connsiteX4" fmla="*/ 214881 w 2331138"/>
              <a:gd name="connsiteY4" fmla="*/ 1176738 h 3352676"/>
              <a:gd name="connsiteX5" fmla="*/ 1129 w 2331138"/>
              <a:gd name="connsiteY5" fmla="*/ 67475 h 335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1138" h="3352676">
                <a:moveTo>
                  <a:pt x="0" y="0"/>
                </a:moveTo>
                <a:lnTo>
                  <a:pt x="2331138" y="0"/>
                </a:lnTo>
                <a:lnTo>
                  <a:pt x="2331138" y="3352676"/>
                </a:lnTo>
                <a:lnTo>
                  <a:pt x="2097210" y="3226228"/>
                </a:lnTo>
                <a:cubicBezTo>
                  <a:pt x="1273150" y="2744079"/>
                  <a:pt x="560886" y="2027200"/>
                  <a:pt x="214881" y="1176738"/>
                </a:cubicBezTo>
                <a:cubicBezTo>
                  <a:pt x="72781" y="827511"/>
                  <a:pt x="14297" y="430630"/>
                  <a:pt x="1129" y="6747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8" name="Graphic 78">
            <a:extLst>
              <a:ext uri="{FF2B5EF4-FFF2-40B4-BE49-F238E27FC236}">
                <a16:creationId xmlns:a16="http://schemas.microsoft.com/office/drawing/2014/main" id="{6C02F4BE-6538-4CAD-B506-5FEB41D3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4415" y="3039261"/>
            <a:ext cx="1020166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9" name="Graphic 78">
              <a:extLst>
                <a:ext uri="{FF2B5EF4-FFF2-40B4-BE49-F238E27FC236}">
                  <a16:creationId xmlns:a16="http://schemas.microsoft.com/office/drawing/2014/main" id="{3937246C-D7B5-4CC9-B979-0999DFD5B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0" name="Graphic 78">
              <a:extLst>
                <a:ext uri="{FF2B5EF4-FFF2-40B4-BE49-F238E27FC236}">
                  <a16:creationId xmlns:a16="http://schemas.microsoft.com/office/drawing/2014/main" id="{559392DF-C926-44F7-920D-C232D60C0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31" name="Graphic 78">
                <a:extLst>
                  <a:ext uri="{FF2B5EF4-FFF2-40B4-BE49-F238E27FC236}">
                    <a16:creationId xmlns:a16="http://schemas.microsoft.com/office/drawing/2014/main" id="{437FE2E3-579D-4AA7-8775-C78D1D5631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Graphic 78">
                <a:extLst>
                  <a:ext uri="{FF2B5EF4-FFF2-40B4-BE49-F238E27FC236}">
                    <a16:creationId xmlns:a16="http://schemas.microsoft.com/office/drawing/2014/main" id="{A6A05323-CAFA-4D34-83D6-3B23B02085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Graphic 78">
                <a:extLst>
                  <a:ext uri="{FF2B5EF4-FFF2-40B4-BE49-F238E27FC236}">
                    <a16:creationId xmlns:a16="http://schemas.microsoft.com/office/drawing/2014/main" id="{D49C45E0-CA07-4FD4-9097-BF313F498A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Graphic 78">
                <a:extLst>
                  <a:ext uri="{FF2B5EF4-FFF2-40B4-BE49-F238E27FC236}">
                    <a16:creationId xmlns:a16="http://schemas.microsoft.com/office/drawing/2014/main" id="{1EC741B7-EEE8-43D3-9F8E-C2B4DD1965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C77ACF24-9CF6-FFAD-FD47-A70391F39D56}"/>
              </a:ext>
            </a:extLst>
          </p:cNvPr>
          <p:cNvSpPr txBox="1">
            <a:spLocks/>
          </p:cNvSpPr>
          <p:nvPr/>
        </p:nvSpPr>
        <p:spPr>
          <a:xfrm>
            <a:off x="517871" y="3299404"/>
            <a:ext cx="4767930" cy="274575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</a:pPr>
            <a:endParaRPr lang="en-US" sz="2000">
              <a:latin typeface="+mn-lt"/>
              <a:ea typeface="+mn-ea"/>
              <a:cs typeface="+mn-cs"/>
            </a:endParaRPr>
          </a:p>
          <a:p>
            <a:pPr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</a:pPr>
            <a:r>
              <a:rPr lang="en-US" sz="2000" b="1" i="0" dirty="0">
                <a:latin typeface="+mn-lt"/>
                <a:ea typeface="+mn-ea"/>
                <a:cs typeface="+mn-cs"/>
              </a:rPr>
              <a:t>🔎</a:t>
            </a:r>
            <a:r>
              <a:rPr lang="en-US" sz="2000" b="1" dirty="0">
                <a:latin typeface="+mn-lt"/>
                <a:ea typeface="+mn-ea"/>
                <a:cs typeface="+mn-cs"/>
              </a:rPr>
              <a:t>Key Insights</a:t>
            </a:r>
          </a:p>
          <a:p>
            <a:pPr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</a:pPr>
            <a:endParaRPr lang="en-US" sz="2000">
              <a:latin typeface="+mn-lt"/>
              <a:ea typeface="+mn-ea"/>
              <a:cs typeface="+mn-cs"/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venir Next LT Pro"/>
                <a:ea typeface="+mn-ea"/>
                <a:cs typeface="Times New Roman"/>
              </a:rPr>
              <a:t>There Is A Weak Negative Relationship Between Distance And Price With</a:t>
            </a:r>
            <a:r>
              <a:rPr lang="en-US" sz="1400" b="1" dirty="0">
                <a:solidFill>
                  <a:srgbClr val="FF0000"/>
                </a:solidFill>
                <a:latin typeface="Avenir Next LT Pro"/>
                <a:ea typeface="+mn-ea"/>
                <a:cs typeface="Times New Roman"/>
              </a:rPr>
              <a:t> –0.173</a:t>
            </a:r>
            <a:r>
              <a:rPr lang="en-US" sz="1400" dirty="0">
                <a:solidFill>
                  <a:srgbClr val="000000"/>
                </a:solidFill>
                <a:latin typeface="Avenir Next LT Pro"/>
                <a:ea typeface="+mn-ea"/>
                <a:cs typeface="Times New Roman"/>
              </a:rPr>
              <a:t> . Therefore , We Can't Say That The </a:t>
            </a:r>
            <a:r>
              <a:rPr lang="en-US" sz="1400" dirty="0" err="1">
                <a:solidFill>
                  <a:srgbClr val="000000"/>
                </a:solidFill>
                <a:latin typeface="Avenir Next LT Pro"/>
                <a:ea typeface="+mn-ea"/>
                <a:cs typeface="Times New Roman"/>
              </a:rPr>
              <a:t>Distance_km</a:t>
            </a:r>
            <a:r>
              <a:rPr lang="en-US" sz="1400" dirty="0">
                <a:solidFill>
                  <a:srgbClr val="000000"/>
                </a:solidFill>
                <a:latin typeface="Avenir Next LT Pro"/>
                <a:ea typeface="+mn-ea"/>
                <a:cs typeface="Times New Roman"/>
              </a:rPr>
              <a:t> Feature Alone Determines The Price . 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venir Next LT Pro"/>
                <a:ea typeface="+mn-ea"/>
                <a:cs typeface="Times New Roman"/>
              </a:rPr>
              <a:t>Price Tends To</a:t>
            </a:r>
            <a:r>
              <a:rPr lang="en-US" sz="1400" b="1" dirty="0">
                <a:solidFill>
                  <a:srgbClr val="FF0000"/>
                </a:solidFill>
                <a:latin typeface="Avenir Next LT Pro"/>
                <a:ea typeface="+mn-ea"/>
                <a:cs typeface="Times New Roman"/>
              </a:rPr>
              <a:t> Slowly Decrease</a:t>
            </a:r>
            <a:r>
              <a:rPr lang="en-US" sz="1400" dirty="0">
                <a:latin typeface="Avenir Next LT Pro"/>
                <a:ea typeface="+mn-ea"/>
                <a:cs typeface="Times New Roman"/>
              </a:rPr>
              <a:t> As The Distance From The City Center</a:t>
            </a:r>
            <a:r>
              <a:rPr lang="en-US" sz="1400" b="1" dirty="0">
                <a:solidFill>
                  <a:srgbClr val="FF0000"/>
                </a:solidFill>
                <a:latin typeface="Avenir Next LT Pro"/>
                <a:ea typeface="+mn-ea"/>
                <a:cs typeface="Times New Roman"/>
              </a:rPr>
              <a:t> Increases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DEF290-8D3D-EBD6-F3B9-ACFFB543C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742" y="1081155"/>
            <a:ext cx="5654663" cy="4622687"/>
          </a:xfrm>
          <a:prstGeom prst="rect">
            <a:avLst/>
          </a:prstGeom>
        </p:spPr>
      </p:pic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6B6061A8-D267-4967-AF47-C3CC45138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899042" y="5602884"/>
            <a:ext cx="4292956" cy="1255116"/>
          </a:xfrm>
          <a:custGeom>
            <a:avLst/>
            <a:gdLst>
              <a:gd name="connsiteX0" fmla="*/ 0 w 4238069"/>
              <a:gd name="connsiteY0" fmla="*/ 0 h 1903025"/>
              <a:gd name="connsiteX1" fmla="*/ 113310 w 4238069"/>
              <a:gd name="connsiteY1" fmla="*/ 8960 h 1903025"/>
              <a:gd name="connsiteX2" fmla="*/ 291503 w 4238069"/>
              <a:gd name="connsiteY2" fmla="*/ 37000 h 1903025"/>
              <a:gd name="connsiteX3" fmla="*/ 3082930 w 4238069"/>
              <a:gd name="connsiteY3" fmla="*/ 1104916 h 1903025"/>
              <a:gd name="connsiteX4" fmla="*/ 3881548 w 4238069"/>
              <a:gd name="connsiteY4" fmla="*/ 1668276 h 1903025"/>
              <a:gd name="connsiteX5" fmla="*/ 4238069 w 4238069"/>
              <a:gd name="connsiteY5" fmla="*/ 1903025 h 1903025"/>
              <a:gd name="connsiteX6" fmla="*/ 0 w 4238069"/>
              <a:gd name="connsiteY6" fmla="*/ 1903025 h 190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8069" h="1903025">
                <a:moveTo>
                  <a:pt x="0" y="0"/>
                </a:moveTo>
                <a:lnTo>
                  <a:pt x="113310" y="8960"/>
                </a:lnTo>
                <a:cubicBezTo>
                  <a:pt x="173365" y="16155"/>
                  <a:pt x="232870" y="25632"/>
                  <a:pt x="291503" y="37000"/>
                </a:cubicBezTo>
                <a:cubicBezTo>
                  <a:pt x="1250780" y="222537"/>
                  <a:pt x="2264787" y="499636"/>
                  <a:pt x="3082930" y="1104916"/>
                </a:cubicBezTo>
                <a:cubicBezTo>
                  <a:pt x="3348371" y="1301283"/>
                  <a:pt x="3614239" y="1488349"/>
                  <a:pt x="3881548" y="1668276"/>
                </a:cubicBezTo>
                <a:lnTo>
                  <a:pt x="4238069" y="1903025"/>
                </a:lnTo>
                <a:lnTo>
                  <a:pt x="0" y="190302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2DB770A-658D-4212-9BF2-236070D5D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91063" y="5736410"/>
            <a:ext cx="886141" cy="802496"/>
            <a:chOff x="10948005" y="3272152"/>
            <a:chExt cx="868640" cy="786648"/>
          </a:xfrm>
          <a:solidFill>
            <a:schemeClr val="accent6"/>
          </a:solidFill>
        </p:grpSpPr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9B99195-76A3-4B90-8F45-BAEF05699C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1029419-581A-4B40-B3E3-BD5931F99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8F181C6-C3A7-463D-B837-E6FB1B080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2" name="Graphic 12">
              <a:extLst>
                <a:ext uri="{FF2B5EF4-FFF2-40B4-BE49-F238E27FC236}">
                  <a16:creationId xmlns:a16="http://schemas.microsoft.com/office/drawing/2014/main" id="{FB6F6AFA-67F5-4D3A-839B-6B3980B6F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Graphic 15">
              <a:extLst>
                <a:ext uri="{FF2B5EF4-FFF2-40B4-BE49-F238E27FC236}">
                  <a16:creationId xmlns:a16="http://schemas.microsoft.com/office/drawing/2014/main" id="{E9F49015-3756-46EC-AF1A-2F33219CB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Graphic 15">
              <a:extLst>
                <a:ext uri="{FF2B5EF4-FFF2-40B4-BE49-F238E27FC236}">
                  <a16:creationId xmlns:a16="http://schemas.microsoft.com/office/drawing/2014/main" id="{44C1E606-364B-4793-83A8-61AC96EDBE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D62BB33-881E-4E43-A746-75C1E7C32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12754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FD9B7B-E657-887D-963A-F223C2C9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895FAB9E-B75E-5273-E400-FD71C81BF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2710F-0584-B5C2-F5A2-790E4DDC4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1" y="976160"/>
            <a:ext cx="4767930" cy="1848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Guest Intent Frequency </a:t>
            </a:r>
            <a:endParaRPr lang="en-US" dirty="0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997879E1-1E41-311D-CC27-ADB2FAED6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21648"/>
            <a:ext cx="1839951" cy="1423657"/>
          </a:xfrm>
          <a:custGeom>
            <a:avLst/>
            <a:gdLst>
              <a:gd name="connsiteX0" fmla="*/ 0 w 2331138"/>
              <a:gd name="connsiteY0" fmla="*/ 0 h 3352676"/>
              <a:gd name="connsiteX1" fmla="*/ 2331138 w 2331138"/>
              <a:gd name="connsiteY1" fmla="*/ 0 h 3352676"/>
              <a:gd name="connsiteX2" fmla="*/ 2331138 w 2331138"/>
              <a:gd name="connsiteY2" fmla="*/ 3352676 h 3352676"/>
              <a:gd name="connsiteX3" fmla="*/ 2097210 w 2331138"/>
              <a:gd name="connsiteY3" fmla="*/ 3226228 h 3352676"/>
              <a:gd name="connsiteX4" fmla="*/ 214881 w 2331138"/>
              <a:gd name="connsiteY4" fmla="*/ 1176738 h 3352676"/>
              <a:gd name="connsiteX5" fmla="*/ 1129 w 2331138"/>
              <a:gd name="connsiteY5" fmla="*/ 67475 h 335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1138" h="3352676">
                <a:moveTo>
                  <a:pt x="0" y="0"/>
                </a:moveTo>
                <a:lnTo>
                  <a:pt x="2331138" y="0"/>
                </a:lnTo>
                <a:lnTo>
                  <a:pt x="2331138" y="3352676"/>
                </a:lnTo>
                <a:lnTo>
                  <a:pt x="2097210" y="3226228"/>
                </a:lnTo>
                <a:cubicBezTo>
                  <a:pt x="1273150" y="2744079"/>
                  <a:pt x="560886" y="2027200"/>
                  <a:pt x="214881" y="1176738"/>
                </a:cubicBezTo>
                <a:cubicBezTo>
                  <a:pt x="72781" y="827511"/>
                  <a:pt x="14297" y="430630"/>
                  <a:pt x="1129" y="6747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8" name="Graphic 78">
            <a:extLst>
              <a:ext uri="{FF2B5EF4-FFF2-40B4-BE49-F238E27FC236}">
                <a16:creationId xmlns:a16="http://schemas.microsoft.com/office/drawing/2014/main" id="{3A40C83B-6C6A-F8E8-8E4F-0948742E0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4415" y="3039261"/>
            <a:ext cx="1020166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9" name="Graphic 78">
              <a:extLst>
                <a:ext uri="{FF2B5EF4-FFF2-40B4-BE49-F238E27FC236}">
                  <a16:creationId xmlns:a16="http://schemas.microsoft.com/office/drawing/2014/main" id="{9E5403FE-C445-E090-94FD-1CE9B7E78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0" name="Graphic 78">
              <a:extLst>
                <a:ext uri="{FF2B5EF4-FFF2-40B4-BE49-F238E27FC236}">
                  <a16:creationId xmlns:a16="http://schemas.microsoft.com/office/drawing/2014/main" id="{5BA717F4-14E8-459F-D87D-FFC106AFB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31" name="Graphic 78">
                <a:extLst>
                  <a:ext uri="{FF2B5EF4-FFF2-40B4-BE49-F238E27FC236}">
                    <a16:creationId xmlns:a16="http://schemas.microsoft.com/office/drawing/2014/main" id="{6643AA4B-4E6C-C7FD-1408-2702B4979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Graphic 78">
                <a:extLst>
                  <a:ext uri="{FF2B5EF4-FFF2-40B4-BE49-F238E27FC236}">
                    <a16:creationId xmlns:a16="http://schemas.microsoft.com/office/drawing/2014/main" id="{1AC5D7DC-411F-4217-B22D-C9B380529A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Graphic 78">
                <a:extLst>
                  <a:ext uri="{FF2B5EF4-FFF2-40B4-BE49-F238E27FC236}">
                    <a16:creationId xmlns:a16="http://schemas.microsoft.com/office/drawing/2014/main" id="{DF36035C-449C-66C3-615D-CE9E15989B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Graphic 78">
                <a:extLst>
                  <a:ext uri="{FF2B5EF4-FFF2-40B4-BE49-F238E27FC236}">
                    <a16:creationId xmlns:a16="http://schemas.microsoft.com/office/drawing/2014/main" id="{E2F5A061-7C9C-6FCD-C7B1-D4D31B18AE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65EAB12A-B1A4-17AB-9F2F-3169A8E41C2C}"/>
              </a:ext>
            </a:extLst>
          </p:cNvPr>
          <p:cNvSpPr txBox="1">
            <a:spLocks/>
          </p:cNvSpPr>
          <p:nvPr/>
        </p:nvSpPr>
        <p:spPr>
          <a:xfrm>
            <a:off x="517871" y="3299404"/>
            <a:ext cx="4767930" cy="2745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</a:pPr>
            <a:endParaRPr lang="en-US" sz="2000">
              <a:latin typeface="+mn-lt"/>
              <a:ea typeface="+mn-ea"/>
              <a:cs typeface="+mn-cs"/>
            </a:endParaRPr>
          </a:p>
          <a:p>
            <a:pPr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</a:pPr>
            <a:r>
              <a:rPr lang="en-US" sz="2000" b="1" i="0" dirty="0">
                <a:latin typeface="+mn-lt"/>
                <a:ea typeface="+mn-ea"/>
                <a:cs typeface="+mn-cs"/>
              </a:rPr>
              <a:t>🔎</a:t>
            </a:r>
            <a:r>
              <a:rPr lang="en-US" sz="2000" b="1" dirty="0">
                <a:latin typeface="+mn-lt"/>
                <a:ea typeface="+mn-ea"/>
                <a:cs typeface="+mn-cs"/>
              </a:rPr>
              <a:t>Key Insights</a:t>
            </a:r>
          </a:p>
          <a:p>
            <a:pPr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</a:pPr>
            <a:endParaRPr lang="en-US" sz="2000">
              <a:latin typeface="+mn-lt"/>
              <a:ea typeface="+mn-ea"/>
              <a:cs typeface="+mn-cs"/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venir Next LT Pro"/>
                <a:ea typeface="+mn-ea"/>
                <a:cs typeface="Times New Roman"/>
              </a:rPr>
              <a:t>The Dominant Intent Of Guest Is Renting For </a:t>
            </a:r>
            <a:r>
              <a:rPr lang="en-US" sz="1600" b="1" err="1">
                <a:solidFill>
                  <a:srgbClr val="FF0000"/>
                </a:solidFill>
                <a:latin typeface="Avenir Next LT Pro"/>
                <a:ea typeface="+mn-ea"/>
                <a:cs typeface="Times New Roman"/>
              </a:rPr>
              <a:t>Weakend</a:t>
            </a:r>
            <a:r>
              <a:rPr lang="en-US" sz="1400" dirty="0">
                <a:solidFill>
                  <a:srgbClr val="000000"/>
                </a:solidFill>
                <a:latin typeface="Avenir Next LT Pro"/>
                <a:ea typeface="+mn-ea"/>
                <a:cs typeface="Times New Roman"/>
              </a:rPr>
              <a:t> With </a:t>
            </a:r>
            <a:r>
              <a:rPr lang="en-US" sz="1400" b="1" dirty="0">
                <a:solidFill>
                  <a:srgbClr val="FF0000"/>
                </a:solidFill>
                <a:latin typeface="Avenir Next LT Pro"/>
                <a:ea typeface="+mn-ea"/>
                <a:cs typeface="Times New Roman"/>
              </a:rPr>
              <a:t>19691</a:t>
            </a:r>
            <a:r>
              <a:rPr lang="en-US" sz="1400" dirty="0">
                <a:solidFill>
                  <a:srgbClr val="000000"/>
                </a:solidFill>
                <a:latin typeface="Avenir Next LT Pro"/>
                <a:ea typeface="+mn-ea"/>
                <a:cs typeface="Times New Roman"/>
              </a:rPr>
              <a:t> Time </a:t>
            </a: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Avenir Next LT Pro"/>
                <a:ea typeface="+mn-ea"/>
                <a:cs typeface="Times New Roman"/>
              </a:rPr>
              <a:t>Short-term/stay-pattern categories</a:t>
            </a:r>
            <a:r>
              <a:rPr lang="en-US" sz="1400" dirty="0">
                <a:latin typeface="Avenir Next LT Pro"/>
                <a:ea typeface="+mn-ea"/>
                <a:cs typeface="Times New Roman"/>
              </a:rPr>
              <a:t> dominate the dataset , while </a:t>
            </a:r>
            <a:r>
              <a:rPr lang="en-US" sz="1400" b="1" dirty="0">
                <a:solidFill>
                  <a:srgbClr val="FF0000"/>
                </a:solidFill>
                <a:latin typeface="Avenir Next LT Pro"/>
                <a:ea typeface="+mn-ea"/>
                <a:cs typeface="Times New Roman"/>
              </a:rPr>
              <a:t>monthly-oriented listings</a:t>
            </a:r>
            <a:r>
              <a:rPr lang="en-US" sz="1400" dirty="0">
                <a:latin typeface="Avenir Next LT Pro"/>
                <a:ea typeface="+mn-ea"/>
                <a:cs typeface="Times New Roman"/>
              </a:rPr>
              <a:t> form a smaller group</a:t>
            </a:r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49E61B50-8E68-E829-603B-45239D58C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899042" y="5602884"/>
            <a:ext cx="4292956" cy="1255116"/>
          </a:xfrm>
          <a:custGeom>
            <a:avLst/>
            <a:gdLst>
              <a:gd name="connsiteX0" fmla="*/ 0 w 4238069"/>
              <a:gd name="connsiteY0" fmla="*/ 0 h 1903025"/>
              <a:gd name="connsiteX1" fmla="*/ 113310 w 4238069"/>
              <a:gd name="connsiteY1" fmla="*/ 8960 h 1903025"/>
              <a:gd name="connsiteX2" fmla="*/ 291503 w 4238069"/>
              <a:gd name="connsiteY2" fmla="*/ 37000 h 1903025"/>
              <a:gd name="connsiteX3" fmla="*/ 3082930 w 4238069"/>
              <a:gd name="connsiteY3" fmla="*/ 1104916 h 1903025"/>
              <a:gd name="connsiteX4" fmla="*/ 3881548 w 4238069"/>
              <a:gd name="connsiteY4" fmla="*/ 1668276 h 1903025"/>
              <a:gd name="connsiteX5" fmla="*/ 4238069 w 4238069"/>
              <a:gd name="connsiteY5" fmla="*/ 1903025 h 1903025"/>
              <a:gd name="connsiteX6" fmla="*/ 0 w 4238069"/>
              <a:gd name="connsiteY6" fmla="*/ 1903025 h 190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8069" h="1903025">
                <a:moveTo>
                  <a:pt x="0" y="0"/>
                </a:moveTo>
                <a:lnTo>
                  <a:pt x="113310" y="8960"/>
                </a:lnTo>
                <a:cubicBezTo>
                  <a:pt x="173365" y="16155"/>
                  <a:pt x="232870" y="25632"/>
                  <a:pt x="291503" y="37000"/>
                </a:cubicBezTo>
                <a:cubicBezTo>
                  <a:pt x="1250780" y="222537"/>
                  <a:pt x="2264787" y="499636"/>
                  <a:pt x="3082930" y="1104916"/>
                </a:cubicBezTo>
                <a:cubicBezTo>
                  <a:pt x="3348371" y="1301283"/>
                  <a:pt x="3614239" y="1488349"/>
                  <a:pt x="3881548" y="1668276"/>
                </a:cubicBezTo>
                <a:lnTo>
                  <a:pt x="4238069" y="1903025"/>
                </a:lnTo>
                <a:lnTo>
                  <a:pt x="0" y="190302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83C6A46-F27C-A5F6-8D6E-E95729298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91063" y="5736410"/>
            <a:ext cx="886141" cy="802496"/>
            <a:chOff x="10948005" y="3272152"/>
            <a:chExt cx="868640" cy="786648"/>
          </a:xfrm>
          <a:solidFill>
            <a:schemeClr val="accent6"/>
          </a:solidFill>
        </p:grpSpPr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BA3B722-AEDD-0CFB-F247-7EF5CBBB4B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EFE71569-9E74-C9AE-6242-DEEF21EA1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266910AF-2207-BBAA-E1C1-433B4C8DAE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2" name="Graphic 12">
              <a:extLst>
                <a:ext uri="{FF2B5EF4-FFF2-40B4-BE49-F238E27FC236}">
                  <a16:creationId xmlns:a16="http://schemas.microsoft.com/office/drawing/2014/main" id="{BF34B8C1-F32A-DEA6-429F-4F656524C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Graphic 15">
              <a:extLst>
                <a:ext uri="{FF2B5EF4-FFF2-40B4-BE49-F238E27FC236}">
                  <a16:creationId xmlns:a16="http://schemas.microsoft.com/office/drawing/2014/main" id="{D420E2C1-31CB-A58A-6532-4190FDDBE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Graphic 15">
              <a:extLst>
                <a:ext uri="{FF2B5EF4-FFF2-40B4-BE49-F238E27FC236}">
                  <a16:creationId xmlns:a16="http://schemas.microsoft.com/office/drawing/2014/main" id="{A8995532-46CF-7AB5-5C71-F8DB19236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32707A1-419C-6368-66A1-4C2257111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6C97CFE-3E18-3AE1-07AD-02B8194B6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062" y="1395412"/>
            <a:ext cx="51911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48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B5DEF-1B4F-9A90-B15C-FB1CFAD85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855FD2ED-DEE2-04AB-D300-408B8C29D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CC553-070E-87C6-E587-A743489E3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1" y="976160"/>
            <a:ext cx="4767930" cy="1848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Frequency of review Number case </a:t>
            </a:r>
            <a:endParaRPr lang="en-US" dirty="0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F19C0E7A-ECD6-DBBD-AC55-CA7FB407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21648"/>
            <a:ext cx="1839951" cy="1423657"/>
          </a:xfrm>
          <a:custGeom>
            <a:avLst/>
            <a:gdLst>
              <a:gd name="connsiteX0" fmla="*/ 0 w 2331138"/>
              <a:gd name="connsiteY0" fmla="*/ 0 h 3352676"/>
              <a:gd name="connsiteX1" fmla="*/ 2331138 w 2331138"/>
              <a:gd name="connsiteY1" fmla="*/ 0 h 3352676"/>
              <a:gd name="connsiteX2" fmla="*/ 2331138 w 2331138"/>
              <a:gd name="connsiteY2" fmla="*/ 3352676 h 3352676"/>
              <a:gd name="connsiteX3" fmla="*/ 2097210 w 2331138"/>
              <a:gd name="connsiteY3" fmla="*/ 3226228 h 3352676"/>
              <a:gd name="connsiteX4" fmla="*/ 214881 w 2331138"/>
              <a:gd name="connsiteY4" fmla="*/ 1176738 h 3352676"/>
              <a:gd name="connsiteX5" fmla="*/ 1129 w 2331138"/>
              <a:gd name="connsiteY5" fmla="*/ 67475 h 335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31138" h="3352676">
                <a:moveTo>
                  <a:pt x="0" y="0"/>
                </a:moveTo>
                <a:lnTo>
                  <a:pt x="2331138" y="0"/>
                </a:lnTo>
                <a:lnTo>
                  <a:pt x="2331138" y="3352676"/>
                </a:lnTo>
                <a:lnTo>
                  <a:pt x="2097210" y="3226228"/>
                </a:lnTo>
                <a:cubicBezTo>
                  <a:pt x="1273150" y="2744079"/>
                  <a:pt x="560886" y="2027200"/>
                  <a:pt x="214881" y="1176738"/>
                </a:cubicBezTo>
                <a:cubicBezTo>
                  <a:pt x="72781" y="827511"/>
                  <a:pt x="14297" y="430630"/>
                  <a:pt x="1129" y="6747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8" name="Graphic 78">
            <a:extLst>
              <a:ext uri="{FF2B5EF4-FFF2-40B4-BE49-F238E27FC236}">
                <a16:creationId xmlns:a16="http://schemas.microsoft.com/office/drawing/2014/main" id="{F68306CB-D13A-729A-497B-E03639066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4415" y="3039261"/>
            <a:ext cx="1020166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9" name="Graphic 78">
              <a:extLst>
                <a:ext uri="{FF2B5EF4-FFF2-40B4-BE49-F238E27FC236}">
                  <a16:creationId xmlns:a16="http://schemas.microsoft.com/office/drawing/2014/main" id="{B653614E-9DF2-7716-233F-4AED6E9487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0" name="Graphic 78">
              <a:extLst>
                <a:ext uri="{FF2B5EF4-FFF2-40B4-BE49-F238E27FC236}">
                  <a16:creationId xmlns:a16="http://schemas.microsoft.com/office/drawing/2014/main" id="{4CA95A17-3BEF-81FA-92DD-56B23DD69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31" name="Graphic 78">
                <a:extLst>
                  <a:ext uri="{FF2B5EF4-FFF2-40B4-BE49-F238E27FC236}">
                    <a16:creationId xmlns:a16="http://schemas.microsoft.com/office/drawing/2014/main" id="{2D9C7E9F-D27A-E94F-72D5-4D29CDAAB5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Graphic 78">
                <a:extLst>
                  <a:ext uri="{FF2B5EF4-FFF2-40B4-BE49-F238E27FC236}">
                    <a16:creationId xmlns:a16="http://schemas.microsoft.com/office/drawing/2014/main" id="{56CB3CEA-1039-C92A-7642-E144CA4203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Graphic 78">
                <a:extLst>
                  <a:ext uri="{FF2B5EF4-FFF2-40B4-BE49-F238E27FC236}">
                    <a16:creationId xmlns:a16="http://schemas.microsoft.com/office/drawing/2014/main" id="{09C88D34-0BCC-4F66-910E-C6213F5A3B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Graphic 78">
                <a:extLst>
                  <a:ext uri="{FF2B5EF4-FFF2-40B4-BE49-F238E27FC236}">
                    <a16:creationId xmlns:a16="http://schemas.microsoft.com/office/drawing/2014/main" id="{31C41930-8FB3-C139-8F99-1AC559F70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74786A4C-8B2A-20E7-99C8-197834214B06}"/>
              </a:ext>
            </a:extLst>
          </p:cNvPr>
          <p:cNvSpPr txBox="1">
            <a:spLocks/>
          </p:cNvSpPr>
          <p:nvPr/>
        </p:nvSpPr>
        <p:spPr>
          <a:xfrm>
            <a:off x="565495" y="3299404"/>
            <a:ext cx="4720306" cy="31029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</a:pPr>
            <a:endParaRPr lang="en-US" sz="2000">
              <a:latin typeface="+mn-lt"/>
              <a:ea typeface="+mn-ea"/>
              <a:cs typeface="+mn-cs"/>
            </a:endParaRPr>
          </a:p>
          <a:p>
            <a:pPr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</a:pPr>
            <a:r>
              <a:rPr lang="en-US" sz="2000" b="1" i="0" dirty="0">
                <a:latin typeface="+mn-lt"/>
                <a:ea typeface="+mn-ea"/>
                <a:cs typeface="+mn-cs"/>
              </a:rPr>
              <a:t>🔎</a:t>
            </a:r>
            <a:r>
              <a:rPr lang="en-US" sz="2000" b="1" dirty="0">
                <a:latin typeface="+mn-lt"/>
                <a:ea typeface="+mn-ea"/>
                <a:cs typeface="+mn-cs"/>
              </a:rPr>
              <a:t>Key Insights</a:t>
            </a:r>
          </a:p>
          <a:p>
            <a:pPr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</a:pPr>
            <a:endParaRPr lang="en-US" sz="2000">
              <a:latin typeface="+mn-lt"/>
              <a:ea typeface="+mn-ea"/>
              <a:cs typeface="+mn-cs"/>
            </a:endParaRPr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venir Next LT Pro"/>
                <a:ea typeface="+mn-ea"/>
                <a:cs typeface="Times New Roman"/>
              </a:rPr>
              <a:t>Huge Number of listings (accommodations) Is Categorized As </a:t>
            </a:r>
            <a:r>
              <a:rPr lang="en-US" sz="1600" b="1" dirty="0">
                <a:solidFill>
                  <a:srgbClr val="FF0000"/>
                </a:solidFill>
                <a:latin typeface="Avenir Next LT Pro"/>
                <a:ea typeface="+mn-ea"/>
                <a:cs typeface="Times New Roman"/>
              </a:rPr>
              <a:t>Few</a:t>
            </a:r>
            <a:r>
              <a:rPr lang="en-US" sz="1600" dirty="0">
                <a:solidFill>
                  <a:srgbClr val="000000"/>
                </a:solidFill>
                <a:latin typeface="Avenir Next LT Pro"/>
                <a:ea typeface="+mn-ea"/>
                <a:cs typeface="Times New Roman"/>
              </a:rPr>
              <a:t> In Review Category Feature At Precent </a:t>
            </a:r>
            <a:r>
              <a:rPr lang="en-US" sz="1600" b="1" dirty="0">
                <a:solidFill>
                  <a:srgbClr val="FF0000"/>
                </a:solidFill>
                <a:latin typeface="Avenir Next LT Pro"/>
                <a:ea typeface="+mn-ea"/>
                <a:cs typeface="Times New Roman"/>
              </a:rPr>
              <a:t>55.67%</a:t>
            </a:r>
            <a:r>
              <a:rPr lang="en-US" sz="1600" dirty="0">
                <a:solidFill>
                  <a:srgbClr val="000000"/>
                </a:solidFill>
                <a:latin typeface="Avenir Next LT Pro"/>
                <a:ea typeface="+mn-ea"/>
                <a:cs typeface="Times New Roman"/>
              </a:rPr>
              <a:t> Which It Could Represent One Of Those Probabilities :  </a:t>
            </a:r>
            <a:endParaRPr lang="en-US" sz="1600">
              <a:ea typeface="+mn-ea"/>
            </a:endParaRPr>
          </a:p>
          <a:p>
            <a:pPr marL="742950" lvl="1" indent="-28575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1400" b="1" i="1" dirty="0">
                <a:solidFill>
                  <a:srgbClr val="214552"/>
                </a:solidFill>
                <a:latin typeface="Times New Roman"/>
                <a:cs typeface="Times New Roman"/>
              </a:rPr>
              <a:t>Newer listings </a:t>
            </a:r>
          </a:p>
          <a:p>
            <a:pPr marL="742950" lvl="1" indent="-28575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1400" b="1" i="1" dirty="0">
                <a:solidFill>
                  <a:srgbClr val="214552"/>
                </a:solidFill>
                <a:latin typeface="Times New Roman"/>
                <a:cs typeface="Times New Roman"/>
              </a:rPr>
              <a:t>Inactive listings </a:t>
            </a:r>
          </a:p>
          <a:p>
            <a:pPr marL="742950" lvl="1" indent="-28575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1400" b="1" i="1" dirty="0">
                <a:solidFill>
                  <a:srgbClr val="214552"/>
                </a:solidFill>
                <a:latin typeface="Times New Roman"/>
                <a:cs typeface="Times New Roman"/>
              </a:rPr>
              <a:t>Listings with low booking activity </a:t>
            </a:r>
          </a:p>
          <a:p>
            <a:pPr marL="742950" lvl="1" indent="-28575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1400" b="1" i="1" dirty="0">
                <a:solidFill>
                  <a:srgbClr val="214552"/>
                </a:solidFill>
                <a:latin typeface="Times New Roman"/>
                <a:cs typeface="Times New Roman"/>
              </a:rPr>
              <a:t>Listings that simply received  small number of reviews</a:t>
            </a:r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FDC15C33-E474-6071-0F42-09E256581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899042" y="5602884"/>
            <a:ext cx="4292956" cy="1255116"/>
          </a:xfrm>
          <a:custGeom>
            <a:avLst/>
            <a:gdLst>
              <a:gd name="connsiteX0" fmla="*/ 0 w 4238069"/>
              <a:gd name="connsiteY0" fmla="*/ 0 h 1903025"/>
              <a:gd name="connsiteX1" fmla="*/ 113310 w 4238069"/>
              <a:gd name="connsiteY1" fmla="*/ 8960 h 1903025"/>
              <a:gd name="connsiteX2" fmla="*/ 291503 w 4238069"/>
              <a:gd name="connsiteY2" fmla="*/ 37000 h 1903025"/>
              <a:gd name="connsiteX3" fmla="*/ 3082930 w 4238069"/>
              <a:gd name="connsiteY3" fmla="*/ 1104916 h 1903025"/>
              <a:gd name="connsiteX4" fmla="*/ 3881548 w 4238069"/>
              <a:gd name="connsiteY4" fmla="*/ 1668276 h 1903025"/>
              <a:gd name="connsiteX5" fmla="*/ 4238069 w 4238069"/>
              <a:gd name="connsiteY5" fmla="*/ 1903025 h 1903025"/>
              <a:gd name="connsiteX6" fmla="*/ 0 w 4238069"/>
              <a:gd name="connsiteY6" fmla="*/ 1903025 h 1903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8069" h="1903025">
                <a:moveTo>
                  <a:pt x="0" y="0"/>
                </a:moveTo>
                <a:lnTo>
                  <a:pt x="113310" y="8960"/>
                </a:lnTo>
                <a:cubicBezTo>
                  <a:pt x="173365" y="16155"/>
                  <a:pt x="232870" y="25632"/>
                  <a:pt x="291503" y="37000"/>
                </a:cubicBezTo>
                <a:cubicBezTo>
                  <a:pt x="1250780" y="222537"/>
                  <a:pt x="2264787" y="499636"/>
                  <a:pt x="3082930" y="1104916"/>
                </a:cubicBezTo>
                <a:cubicBezTo>
                  <a:pt x="3348371" y="1301283"/>
                  <a:pt x="3614239" y="1488349"/>
                  <a:pt x="3881548" y="1668276"/>
                </a:cubicBezTo>
                <a:lnTo>
                  <a:pt x="4238069" y="1903025"/>
                </a:lnTo>
                <a:lnTo>
                  <a:pt x="0" y="190302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99FF142-9327-B6E5-6840-D8FDF6E74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91063" y="5736410"/>
            <a:ext cx="886141" cy="802496"/>
            <a:chOff x="10948005" y="3272152"/>
            <a:chExt cx="868640" cy="786648"/>
          </a:xfrm>
          <a:solidFill>
            <a:schemeClr val="accent6"/>
          </a:solidFill>
        </p:grpSpPr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61A4D564-6831-198D-10B6-64832A8FB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BD6BFC87-2164-2C28-7110-8C01B42EA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F3653011-3B9A-E9E9-6C08-5A0030CD2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2" name="Graphic 12">
              <a:extLst>
                <a:ext uri="{FF2B5EF4-FFF2-40B4-BE49-F238E27FC236}">
                  <a16:creationId xmlns:a16="http://schemas.microsoft.com/office/drawing/2014/main" id="{40577D38-8A74-7D2F-11AC-9CAD4B23E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Graphic 15">
              <a:extLst>
                <a:ext uri="{FF2B5EF4-FFF2-40B4-BE49-F238E27FC236}">
                  <a16:creationId xmlns:a16="http://schemas.microsoft.com/office/drawing/2014/main" id="{C9BBD220-F460-AE2C-A0B7-1804CD726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Graphic 15">
              <a:extLst>
                <a:ext uri="{FF2B5EF4-FFF2-40B4-BE49-F238E27FC236}">
                  <a16:creationId xmlns:a16="http://schemas.microsoft.com/office/drawing/2014/main" id="{F64FB1A7-A2C8-23C0-859F-A29F46444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D9C07FAA-FDC5-EC2A-5665-7C21B7241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022EA6A-EF4C-91B9-FF73-41119EB3A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037" y="526256"/>
            <a:ext cx="5114925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46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4451" y="116948"/>
            <a:ext cx="6288289" cy="76452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300" dirty="0"/>
              <a:t> Insights 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28902" y="2451145"/>
            <a:ext cx="11627109" cy="4075736"/>
          </a:xfrm>
          <a:prstGeom prst="roundRect">
            <a:avLst/>
          </a:prstGeom>
          <a:solidFill>
            <a:srgbClr val="62A5FC">
              <a:alpha val="75000"/>
            </a:srgb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the number of instances In Renting Dataset Is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48895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While The Number Of Features After </a:t>
            </a:r>
            <a:r>
              <a:rPr lang="en-US" sz="1600" dirty="0" err="1">
                <a:solidFill>
                  <a:srgbClr val="31333F"/>
                </a:solidFill>
                <a:latin typeface="Times New Roman"/>
                <a:cs typeface="Times New Roman"/>
              </a:rPr>
              <a:t>Droping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Non-Necessary Features Is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14</a:t>
            </a:r>
            <a:endParaRPr lang="en-US"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There Is No Duplicated 'Repeated' Instances In That Data  .</a:t>
            </a: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Features Has Missing Values Are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name , </a:t>
            </a:r>
            <a:r>
              <a:rPr lang="en-US" sz="16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host_name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 , </a:t>
            </a:r>
            <a:r>
              <a:rPr lang="en-US" sz="16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last_review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 And </a:t>
            </a:r>
            <a:r>
              <a:rPr lang="en-US" sz="16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reviews_per_month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(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 4 features has And 10 hasn't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)  .</a:t>
            </a:r>
            <a:endParaRPr lang="en-US" sz="1600">
              <a:solidFill>
                <a:srgbClr val="000000"/>
              </a:solidFill>
              <a:latin typeface="Avenir Next LT Pro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There Is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8 Numeric Feature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And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6 Categorical Feature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-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Price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Feature Is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Positive Integer Numbers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Such That Minimum Value Is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Zero Renting Price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Which It Is Not Logic And Considered As Inconsistent Outliers Must Be Removed .</a:t>
            </a:r>
            <a:endParaRPr lang="en-US" sz="1600" dirty="0"/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There Are Eleven Inconsistent Outliers Are Valued With </a:t>
            </a:r>
            <a:r>
              <a:rPr lang="en-US" sz="1600" dirty="0" err="1">
                <a:solidFill>
                  <a:srgbClr val="31333F"/>
                </a:solidFill>
                <a:latin typeface="Times New Roman"/>
                <a:cs typeface="Times New Roman"/>
              </a:rPr>
              <a:t>zeroe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, And They'd been Removed From cleaned </a:t>
            </a:r>
            <a:r>
              <a:rPr lang="en-US" sz="1600" dirty="0" err="1">
                <a:solidFill>
                  <a:srgbClr val="31333F"/>
                </a:solidFill>
                <a:latin typeface="Times New Roman"/>
                <a:cs typeface="Times New Roman"/>
              </a:rPr>
              <a:t>DataFrame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.</a:t>
            </a:r>
            <a:endParaRPr lang="en-US" sz="1600">
              <a:solidFill>
                <a:srgbClr val="000000"/>
              </a:solidFill>
              <a:latin typeface="Avenir Next LT Pro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The mean Of Renting Prices Is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152.72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And The median Value Is Only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106.0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While The Maximum Value Is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10k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Is An Extreme Outlier. </a:t>
            </a:r>
            <a:endParaRPr lang="en-US" sz="1600">
              <a:solidFill>
                <a:srgbClr val="000000"/>
              </a:solidFill>
              <a:latin typeface="Avenir Next LT Pro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The Distribution Of Price Feature Values has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Right-Skewed Spread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With Skewness Rate </a:t>
            </a:r>
            <a:r>
              <a:rPr lang="en-US" sz="1600" b="1" dirty="0">
                <a:solidFill>
                  <a:srgbClr val="FF5A5F"/>
                </a:solidFill>
                <a:latin typeface="Times New Roman"/>
                <a:cs typeface="Times New Roman"/>
              </a:rPr>
              <a:t>19.1</a:t>
            </a:r>
            <a:r>
              <a:rPr lang="en-US" sz="1600" dirty="0">
                <a:solidFill>
                  <a:srgbClr val="31333F"/>
                </a:solidFill>
                <a:latin typeface="Times New Roman"/>
                <a:cs typeface="Times New Roman"/>
              </a:rPr>
              <a:t> And It's not Suitable For Modelling Predictive AI Algorithm Accurately And It Must Be Normalized Before Modelling Process. </a:t>
            </a:r>
            <a:endParaRPr lang="en-US" dirty="0">
              <a:solidFill>
                <a:srgbClr val="000000"/>
              </a:solidFill>
              <a:latin typeface="Avenir Next LT Pro"/>
              <a:cs typeface="Times New Roman"/>
            </a:endParaRPr>
          </a:p>
          <a:p>
            <a:endParaRPr lang="en-US" sz="1200" dirty="0">
              <a:solidFill>
                <a:srgbClr val="31333F"/>
              </a:solidFill>
              <a:latin typeface="Times New Roman"/>
              <a:cs typeface="Times New Roman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2B0104-B878-6BF9-3086-D7C15E6826D8}"/>
              </a:ext>
            </a:extLst>
          </p:cNvPr>
          <p:cNvSpPr/>
          <p:nvPr/>
        </p:nvSpPr>
        <p:spPr>
          <a:xfrm>
            <a:off x="10820136" y="113029"/>
            <a:ext cx="1086180" cy="803475"/>
          </a:xfrm>
          <a:prstGeom prst="ellipse">
            <a:avLst/>
          </a:prstGeom>
          <a:solidFill>
            <a:srgbClr val="852C2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14552"/>
                </a:solidFill>
              </a:rPr>
              <a:t>Set-1</a:t>
            </a:r>
          </a:p>
        </p:txBody>
      </p:sp>
    </p:spTree>
    <p:extLst>
      <p:ext uri="{BB962C8B-B14F-4D97-AF65-F5344CB8AC3E}">
        <p14:creationId xmlns:p14="http://schemas.microsoft.com/office/powerpoint/2010/main" val="2810466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B3C35-05AF-2804-9B1A-223F8B5F1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9BCA-1A31-7FE0-9DB3-12810530E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451" y="116948"/>
            <a:ext cx="6288289" cy="76452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300" dirty="0"/>
              <a:t> Insights 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9B404-D2D7-FE80-F8C3-D1EFF47F2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02" y="2451145"/>
            <a:ext cx="11627109" cy="4075736"/>
          </a:xfrm>
          <a:prstGeom prst="roundRect">
            <a:avLst/>
          </a:prstGeom>
          <a:solidFill>
            <a:srgbClr val="62A5FC">
              <a:alpha val="75000"/>
            </a:srgb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Largest Group Is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1 - 100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23.917k Listings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And Lowest Group Is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5.1k - 10k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20 listings.</a:t>
            </a:r>
            <a:endParaRPr lang="en-US" sz="140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name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Feature is A Categorical Feature Have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47905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Variant Descriptions Of Listing On Airbnb Website In New Work City Had Been Done.</a:t>
            </a:r>
            <a:endParaRPr lang="en-US" sz="140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Most Repeated Characteristics Of Renting Which They Had Been Listed In That Dataset Is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Hillside Hotel.</a:t>
            </a:r>
            <a:endParaRPr lang="en-US" sz="1400" b="1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Description Of Booking Which It Owned Highest cost Is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1-BR Lincoln Center , Furnished room in Astoria And Luxury 1 bedroom app.-stunning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mangattan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 views 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-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host_name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Feature is A Categorical Feature Have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11452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Variant Hosts For Renting </a:t>
            </a:r>
            <a:r>
              <a:rPr lang="en-US" sz="1400" dirty="0" err="1">
                <a:solidFill>
                  <a:srgbClr val="31333F"/>
                </a:solidFill>
                <a:latin typeface="Times New Roman"/>
                <a:cs typeface="Times New Roman"/>
              </a:rPr>
              <a:t>Accomodation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On Airbnb Website In New Work City Had Been Shown. Is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Zero Renting Price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Which It Is Not Logic And Considered As Inconsistent Outliers Must Be Removed .</a:t>
            </a:r>
            <a:endParaRPr lang="en-US" sz="140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Most Repeated host On Airbnb In New York City Is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Michael 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41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Listing.</a:t>
            </a:r>
            <a:endParaRPr lang="en-US" sz="1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Number Of </a:t>
            </a:r>
            <a:r>
              <a:rPr lang="en-US" sz="1400" dirty="0" err="1">
                <a:solidFill>
                  <a:srgbClr val="31333F"/>
                </a:solidFill>
                <a:latin typeface="Times New Roman"/>
                <a:cs typeface="Times New Roman"/>
              </a:rPr>
              <a:t>Hostings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Which One Host had Provided Are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46758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Are While they Have More One Host Are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2137</a:t>
            </a:r>
            <a:endParaRPr lang="en-US" sz="1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 The Most Repeated Ten Hosts In That Dataset Provided Renting Of </a:t>
            </a:r>
            <a:r>
              <a:rPr lang="en-US" sz="1400" err="1">
                <a:solidFill>
                  <a:srgbClr val="31333F"/>
                </a:solidFill>
                <a:latin typeface="Times New Roman"/>
                <a:cs typeface="Times New Roman"/>
              </a:rPr>
              <a:t>Thier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Houses And Was Just Individual Persons (one host Raised renting On Airbnb Website From New York City In Us) Presented In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Previous Charts In Section Data Analysis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where highest </a:t>
            </a:r>
            <a:r>
              <a:rPr lang="en-US" sz="1400" err="1">
                <a:solidFill>
                  <a:srgbClr val="31333F"/>
                </a:solidFill>
                <a:latin typeface="Times New Roman"/>
                <a:cs typeface="Times New Roman"/>
              </a:rPr>
              <a:t>Hostings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Was Are Provided By </a:t>
            </a:r>
            <a:r>
              <a:rPr lang="en-US" sz="1400" b="1" err="1">
                <a:solidFill>
                  <a:srgbClr val="FF5A5F"/>
                </a:solidFill>
                <a:latin typeface="Times New Roman"/>
                <a:cs typeface="Times New Roman"/>
              </a:rPr>
              <a:t>micheal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417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</a:t>
            </a:r>
            <a:r>
              <a:rPr lang="en-US" sz="1400" err="1">
                <a:solidFill>
                  <a:srgbClr val="31333F"/>
                </a:solidFill>
                <a:latin typeface="Times New Roman"/>
                <a:cs typeface="Times New Roman"/>
              </a:rPr>
              <a:t>Hostings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And Lowest Ones By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Mike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194</a:t>
            </a:r>
            <a:endParaRPr lang="en-US" sz="1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sz="1200" dirty="0">
              <a:solidFill>
                <a:srgbClr val="31333F"/>
              </a:solidFill>
              <a:latin typeface="Times New Roman"/>
              <a:cs typeface="Times New Roman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4976B9-5D93-E437-AD52-7ED4F11BA805}"/>
              </a:ext>
            </a:extLst>
          </p:cNvPr>
          <p:cNvSpPr/>
          <p:nvPr/>
        </p:nvSpPr>
        <p:spPr>
          <a:xfrm>
            <a:off x="10820136" y="113029"/>
            <a:ext cx="1086180" cy="803475"/>
          </a:xfrm>
          <a:prstGeom prst="ellipse">
            <a:avLst/>
          </a:prstGeom>
          <a:solidFill>
            <a:srgbClr val="852C2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214552"/>
                </a:solidFill>
              </a:rPr>
              <a:t>Set-2</a:t>
            </a:r>
          </a:p>
        </p:txBody>
      </p:sp>
    </p:spTree>
    <p:extLst>
      <p:ext uri="{BB962C8B-B14F-4D97-AF65-F5344CB8AC3E}">
        <p14:creationId xmlns:p14="http://schemas.microsoft.com/office/powerpoint/2010/main" val="2453613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455C25-B12A-EC26-1147-CAB42375C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9FBB-64BC-564B-686B-E061A981C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451" y="116948"/>
            <a:ext cx="6288289" cy="76452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300" dirty="0"/>
              <a:t> Insights 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036CF6-9EE4-B384-CC89-0799B21DA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02" y="2451145"/>
            <a:ext cx="11627109" cy="4075736"/>
          </a:xfrm>
          <a:prstGeom prst="roundRect">
            <a:avLst/>
          </a:prstGeom>
          <a:solidFill>
            <a:srgbClr val="62A5FC">
              <a:alpha val="75000"/>
            </a:srgb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Type Of Listings Which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Mike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Offered For Renting In That Data Are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Entire Home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72.7 % Out Of Number Of Listings Was Offered By Host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Mike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And Private Room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27.3%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 </a:t>
            </a:r>
            <a:endParaRPr lang="en-US" sz="1400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Most Repeated Ten Hosts In That Dataset Provided Renting Of </a:t>
            </a:r>
            <a:r>
              <a:rPr lang="en-US" sz="1400" dirty="0" err="1">
                <a:solidFill>
                  <a:srgbClr val="31333F"/>
                </a:solidFill>
                <a:latin typeface="Times New Roman"/>
                <a:cs typeface="Times New Roman"/>
              </a:rPr>
              <a:t>Thier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Houses And Was shared Persons (more than one host Raise renting On Airbnb Website From New York City In Us) Presented In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Previous Chart In Data Analysis Section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where highest </a:t>
            </a:r>
            <a:r>
              <a:rPr lang="en-US" sz="1400" dirty="0" err="1">
                <a:solidFill>
                  <a:srgbClr val="31333F"/>
                </a:solidFill>
                <a:latin typeface="Times New Roman"/>
                <a:cs typeface="Times New Roman"/>
              </a:rPr>
              <a:t>Hostings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Was Are Provided By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Sonder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Nyc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327</a:t>
            </a:r>
            <a:br>
              <a:rPr lang="en-US" sz="1400" b="1" dirty="0">
                <a:latin typeface="Times New Roman"/>
                <a:cs typeface="Times New Roman"/>
              </a:rPr>
            </a:b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Hostings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 And Lowest Ones By (pi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leo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),(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charlie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selena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) , (jess and ana) And (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wesly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jessica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)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8</a:t>
            </a:r>
            <a:endParaRPr lang="en-US" sz="1400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Type Of Listings Which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sonder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nyc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Offered For Renting In That Data Are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Entire Home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25.0 % 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Out Of Number Of Listings Was Offered By Host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sonder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nyc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And Private Room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75%</a:t>
            </a:r>
            <a:endParaRPr lang="en-US" sz="1400" b="1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Type Of Listings Which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pi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leo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Offered For Renting In That Data Are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Entire Home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87.5 %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Out Of Number Of Listings Was Offered By Host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pi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leo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And Private Room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12.5%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 .</a:t>
            </a:r>
            <a:endParaRPr lang="en-US" sz="1400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 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jess and ana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Offered Only Just Shared Room For Renting In All Cases In That Data</a:t>
            </a:r>
            <a:br>
              <a:rPr lang="en-US" sz="1400" dirty="0">
                <a:latin typeface="Times New Roman"/>
                <a:cs typeface="Times New Roman"/>
              </a:rPr>
            </a:b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- The Type Of Listings Which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wesly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jessica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Offered For Renting In That Data Are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Entire Home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75 %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Out Of Number Of Listings Was Offered By Host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wesly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jessica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And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Private Room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25 % </a:t>
            </a:r>
            <a:endParaRPr lang="en-US" sz="14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sz="1200" dirty="0">
              <a:solidFill>
                <a:srgbClr val="31333F"/>
              </a:solidFill>
              <a:latin typeface="Times New Roman"/>
              <a:cs typeface="Times New Roman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E6F9570-393A-302C-5BD5-913FD7ABE056}"/>
              </a:ext>
            </a:extLst>
          </p:cNvPr>
          <p:cNvSpPr/>
          <p:nvPr/>
        </p:nvSpPr>
        <p:spPr>
          <a:xfrm>
            <a:off x="10820136" y="113029"/>
            <a:ext cx="1086180" cy="803475"/>
          </a:xfrm>
          <a:prstGeom prst="ellipse">
            <a:avLst/>
          </a:prstGeom>
          <a:solidFill>
            <a:srgbClr val="852C2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214552"/>
                </a:solidFill>
              </a:rPr>
              <a:t>Set-3</a:t>
            </a:r>
          </a:p>
        </p:txBody>
      </p:sp>
    </p:spTree>
    <p:extLst>
      <p:ext uri="{BB962C8B-B14F-4D97-AF65-F5344CB8AC3E}">
        <p14:creationId xmlns:p14="http://schemas.microsoft.com/office/powerpoint/2010/main" val="2987740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0F292F-463F-1117-9820-8BD92BF30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7606-8C95-44A8-172E-5A77235EA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451" y="116948"/>
            <a:ext cx="6288289" cy="76452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300" dirty="0"/>
              <a:t> Insights 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8CBFF7-98C9-7A17-5DC3-2E8E8A709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02" y="2451145"/>
            <a:ext cx="11627109" cy="4278142"/>
          </a:xfrm>
          <a:prstGeom prst="roundRect">
            <a:avLst/>
          </a:prstGeom>
          <a:solidFill>
            <a:srgbClr val="62A5FC">
              <a:alpha val="75000"/>
            </a:srgb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Highest Ten Renting Averages Provided From Individual Persons (one host Raised renting On Airbnb Website From New York City In Us) Where Largest Average Provided By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olson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9.999 K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While Less Average By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viberlyn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2995</a:t>
            </a:r>
            <a:endParaRPr lang="en-US" sz="1400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Olson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Offered Only Just Entire Home For Renting In All his Cases In That Data.</a:t>
            </a:r>
            <a:br>
              <a:rPr lang="en-US" sz="1400" b="1" dirty="0">
                <a:latin typeface="Times New Roman"/>
                <a:cs typeface="Times New Roman"/>
              </a:rPr>
            </a:br>
            <a:endParaRPr lang="en-US" sz="1400" dirty="0">
              <a:solidFill>
                <a:srgbClr val="31333F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viberlyn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Offered Only Just Entire Home For Renting In All his Cases In That Data .</a:t>
            </a:r>
            <a:endParaRPr lang="en-US" sz="1400" b="1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Type Of Listings Which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pi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leo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Offered For Renting In That Data Are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Entire Home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87.5 %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Out Of Number Of Listings Was Offered By Host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pi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leo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And Private Room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12.5%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 .</a:t>
            </a:r>
            <a:endParaRPr lang="en-US" sz="1400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Highest Ten Renting Averages Provided From shared Persons (more one host Raised renting On Airbnb Website From New York City In Us) Where Largest Average Provided By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Jay and Liy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6000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While Less Average By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jeff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kelly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949</a:t>
            </a:r>
            <a:endParaRPr lang="en-US" sz="1400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Jay and Liy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Offered Only Just Entire home For Renting In All </a:t>
            </a:r>
            <a:r>
              <a:rPr lang="en-US" sz="1400" dirty="0" err="1">
                <a:solidFill>
                  <a:srgbClr val="31333F"/>
                </a:solidFill>
                <a:latin typeface="Times New Roman"/>
                <a:cs typeface="Times New Roman"/>
              </a:rPr>
              <a:t>thier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Cases In That Data. </a:t>
            </a:r>
            <a:endParaRPr lang="en-US" sz="1400" b="1" dirty="0">
              <a:solidFill>
                <a:srgbClr val="FF5A5F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 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jeff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kelly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Offered Only Just Private room For Renting In All </a:t>
            </a:r>
            <a:r>
              <a:rPr lang="en-US" sz="1400" dirty="0" err="1">
                <a:solidFill>
                  <a:srgbClr val="31333F"/>
                </a:solidFill>
                <a:latin typeface="Times New Roman"/>
                <a:cs typeface="Times New Roman"/>
              </a:rPr>
              <a:t>thier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Cases In That Data. </a:t>
            </a: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 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neighbourhood_night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Feature is A Categorical Feature Have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Five Different Boroughs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Are Brooklyn , Manhattan ,Queens , </a:t>
            </a:r>
            <a:r>
              <a:rPr lang="en-US" sz="1400" dirty="0" err="1">
                <a:solidFill>
                  <a:srgbClr val="31333F"/>
                </a:solidFill>
                <a:latin typeface="Times New Roman"/>
                <a:cs typeface="Times New Roman"/>
              </a:rPr>
              <a:t>Staten_Island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and Bronx</a:t>
            </a:r>
          </a:p>
          <a:p>
            <a:endParaRPr lang="en-US" sz="1400" dirty="0">
              <a:solidFill>
                <a:srgbClr val="31333F"/>
              </a:solidFill>
              <a:latin typeface="Times New Roman"/>
              <a:cs typeface="Times New Roman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F306963-B63A-1DB5-0066-5B1787BA48BC}"/>
              </a:ext>
            </a:extLst>
          </p:cNvPr>
          <p:cNvSpPr/>
          <p:nvPr/>
        </p:nvSpPr>
        <p:spPr>
          <a:xfrm>
            <a:off x="10820136" y="113029"/>
            <a:ext cx="1086180" cy="803475"/>
          </a:xfrm>
          <a:prstGeom prst="ellipse">
            <a:avLst/>
          </a:prstGeom>
          <a:solidFill>
            <a:srgbClr val="852C2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214552"/>
                </a:solidFill>
              </a:rPr>
              <a:t>Set-4</a:t>
            </a:r>
          </a:p>
        </p:txBody>
      </p:sp>
    </p:spTree>
    <p:extLst>
      <p:ext uri="{BB962C8B-B14F-4D97-AF65-F5344CB8AC3E}">
        <p14:creationId xmlns:p14="http://schemas.microsoft.com/office/powerpoint/2010/main" val="454664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90694-E5FE-C119-5A03-27555E34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96D6-1B34-554F-F18C-6E3376D69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451" y="116948"/>
            <a:ext cx="6288289" cy="76452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300" dirty="0"/>
              <a:t> Insights 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496C1-7FB8-BCEB-EE34-BC462CE09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02" y="2451145"/>
            <a:ext cx="11627109" cy="4278142"/>
          </a:xfrm>
          <a:prstGeom prst="roundRect">
            <a:avLst/>
          </a:prstGeom>
          <a:solidFill>
            <a:srgbClr val="62A5FC">
              <a:alpha val="75000"/>
            </a:srgb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most two boroughs have largest number of listings Are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Manhattan and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Broklyn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And Therefore , Airbnb Activity Is </a:t>
            </a:r>
            <a:r>
              <a:rPr lang="en-US" sz="1400" dirty="0" err="1">
                <a:solidFill>
                  <a:srgbClr val="31333F"/>
                </a:solidFill>
                <a:latin typeface="Times New Roman"/>
                <a:cs typeface="Times New Roman"/>
              </a:rPr>
              <a:t>Heavly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Concerned In Those Two Previous Boroughs</a:t>
            </a:r>
            <a:endParaRPr lang="en-US" sz="1400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There Is No Missing Values Here In This Column</a:t>
            </a:r>
            <a:endParaRPr lang="en-US" sz="1400" b="1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Most Frequent Borough Where Renting Is Highest Is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Manhattan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While Lowest Number Of Booking Renting Is In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Bronx</a:t>
            </a:r>
            <a:endParaRPr lang="en-US" sz="1400" b="1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Maximum Renting Price Was In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Manhatta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 ,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Broklyn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 And Queens 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And All Those Boroughs Are Coastal Cities.</a:t>
            </a:r>
            <a:endParaRPr lang="en-US" sz="1400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Most Three Average Prices Of Renting Was In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Manhattan ,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Broklyn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 And Staten Island</a:t>
            </a:r>
            <a:endParaRPr lang="en-US" sz="1400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Hugest Type Of Rooms Was Renting In All Boroughs Is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Shared Rooms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While Lowest Type Of Rooms Was Renting In All Boroughs Is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Entire Home/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Appartment</a:t>
            </a:r>
            <a:endParaRPr lang="en-US" sz="1400" b="1">
              <a:solidFill>
                <a:srgbClr val="FF5A5F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neighbourhood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Feature is A Categorical Feature Have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221 Different Places</a:t>
            </a:r>
            <a:endParaRPr lang="en-US" sz="1400" dirty="0"/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There Is No Missing Values Here In </a:t>
            </a:r>
            <a:r>
              <a:rPr lang="en-US" sz="1400" b="1" dirty="0" err="1">
                <a:solidFill>
                  <a:srgbClr val="FF5A5F"/>
                </a:solidFill>
                <a:latin typeface="Times New Roman"/>
                <a:cs typeface="Times New Roman"/>
              </a:rPr>
              <a:t>neighbourhood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Feature , Airbnb Activity Is </a:t>
            </a:r>
            <a:r>
              <a:rPr lang="en-US" sz="1400" dirty="0" err="1">
                <a:solidFill>
                  <a:srgbClr val="31333F"/>
                </a:solidFill>
                <a:latin typeface="Times New Roman"/>
                <a:cs typeface="Times New Roman"/>
              </a:rPr>
              <a:t>Heavly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Concerned In Those Two Previous Boroughs </a:t>
            </a: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Highest Place In Which Renting Numbers was hugest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Williamsburg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Located In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Brooklyn Borough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With Average Price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143.8 </a:t>
            </a:r>
            <a:endParaRPr lang="en-US" sz="1400" dirty="0">
              <a:solidFill>
                <a:srgbClr val="31333F"/>
              </a:solidFill>
              <a:latin typeface="Times New Roman"/>
              <a:cs typeface="Times New Roman"/>
            </a:endParaRPr>
          </a:p>
          <a:p>
            <a:endParaRPr lang="en-US" sz="1400" dirty="0">
              <a:solidFill>
                <a:srgbClr val="31333F"/>
              </a:solidFill>
              <a:latin typeface="Times New Roman"/>
              <a:cs typeface="Times New Roman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A7E6DD-90F1-D9F6-FF0C-F954F4D32B1A}"/>
              </a:ext>
            </a:extLst>
          </p:cNvPr>
          <p:cNvSpPr/>
          <p:nvPr/>
        </p:nvSpPr>
        <p:spPr>
          <a:xfrm>
            <a:off x="10820136" y="113029"/>
            <a:ext cx="1086180" cy="803475"/>
          </a:xfrm>
          <a:prstGeom prst="ellipse">
            <a:avLst/>
          </a:prstGeom>
          <a:solidFill>
            <a:srgbClr val="852C2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214552"/>
                </a:solidFill>
              </a:rPr>
              <a:t>Set-5</a:t>
            </a:r>
          </a:p>
        </p:txBody>
      </p:sp>
    </p:spTree>
    <p:extLst>
      <p:ext uri="{BB962C8B-B14F-4D97-AF65-F5344CB8AC3E}">
        <p14:creationId xmlns:p14="http://schemas.microsoft.com/office/powerpoint/2010/main" val="2683379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7CFCA-C6D9-193B-4B95-121722B36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C9A2-77CD-00D0-4E8D-6D961F51E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451" y="116948"/>
            <a:ext cx="6288289" cy="76452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300" dirty="0"/>
              <a:t> Insights 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28D60-E793-72AB-0B09-2DBA99CFA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02" y="2451145"/>
            <a:ext cx="11627109" cy="4278142"/>
          </a:xfrm>
          <a:prstGeom prst="roundRect">
            <a:avLst/>
          </a:prstGeom>
          <a:solidFill>
            <a:srgbClr val="62A5FC">
              <a:alpha val="75000"/>
            </a:srgb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Also According To Visualization Chart , The Highest Renting Location Was In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Manhattan</a:t>
            </a:r>
            <a:endParaRPr lang="en-US" sz="1400" b="1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 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Latitude and Longitude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is Numerical Features Have No Missing Value</a:t>
            </a:r>
            <a:endParaRPr lang="en-US" sz="1400" b="1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Samples Of This Renting Data Set Is Spread </a:t>
            </a:r>
            <a:r>
              <a:rPr lang="en-US" sz="1400" dirty="0" err="1">
                <a:solidFill>
                  <a:srgbClr val="31333F"/>
                </a:solidFill>
                <a:latin typeface="Times New Roman"/>
                <a:cs typeface="Times New Roman"/>
              </a:rPr>
              <a:t>Arroud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All Five Boroughs In New York City </a:t>
            </a:r>
            <a:endParaRPr lang="en-US" sz="1400" b="1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Density Of Description Lengths Is Highly Ranged From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3 to 10 words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For Almost All Listings, Even Rentals With High Prices, is ranged between 3 to 10 words.</a:t>
            </a:r>
            <a:endParaRPr lang="en-US" sz="1400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All Single Hosts Provided Prices Ranged From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25 to 2500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And All Description Lengths Consist Of Only One Word.</a:t>
            </a:r>
            <a:endParaRPr lang="en-US" sz="1400" dirty="0"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High Priced Rentals Were Provided From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Multiple Hosts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.</a:t>
            </a:r>
            <a:endParaRPr lang="en-US" sz="1400" b="1" dirty="0">
              <a:solidFill>
                <a:srgbClr val="FF5A5F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The Median Distance (km) From City Center Is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6.391 km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. Therefore, We Can't Say That The </a:t>
            </a:r>
            <a:r>
              <a:rPr lang="en-US" sz="1400" dirty="0" err="1">
                <a:solidFill>
                  <a:srgbClr val="31333F"/>
                </a:solidFill>
                <a:latin typeface="Times New Roman"/>
                <a:cs typeface="Times New Roman"/>
              </a:rPr>
              <a:t>Distance_km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 Feature Alone Determines The Price. Price Tends To Slowly Decrease As The Distance From The City Center Increases.</a:t>
            </a:r>
            <a:endParaRPr lang="en-US" sz="1400" dirty="0"/>
          </a:p>
          <a:p>
            <a:pPr marL="342900" indent="-342900">
              <a:buFont typeface="Courier New" panose="020B0604020202020204" pitchFamily="34" charset="0"/>
              <a:buChar char="o"/>
            </a:pP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A Huge Number Of Listings (Accommodations) Is Categorized As Few In The Review Category, At A Percentage Of </a:t>
            </a:r>
            <a:r>
              <a:rPr lang="en-US" sz="1400" b="1" dirty="0">
                <a:solidFill>
                  <a:srgbClr val="FF5A5F"/>
                </a:solidFill>
                <a:latin typeface="Times New Roman"/>
                <a:cs typeface="Times New Roman"/>
              </a:rPr>
              <a:t>55.67%</a:t>
            </a:r>
            <a:r>
              <a:rPr lang="en-US" sz="1400" dirty="0">
                <a:solidFill>
                  <a:srgbClr val="31333F"/>
                </a:solidFill>
                <a:latin typeface="Times New Roman"/>
                <a:cs typeface="Times New Roman"/>
              </a:rPr>
              <a:t>. This Could Represent One Of The Following Possibilities: (Newer Listings, Inactive Listings, Listings With Low Booking Activity, Or Listings That Simply Received A Small Number Of Reviews). </a:t>
            </a:r>
            <a:endParaRPr lang="en-US" sz="1400" dirty="0">
              <a:solidFill>
                <a:srgbClr val="000000"/>
              </a:solidFill>
              <a:latin typeface="Avenir Next LT Pro"/>
              <a:cs typeface="Times New Roman"/>
            </a:endParaRPr>
          </a:p>
          <a:p>
            <a:endParaRPr lang="en-US" sz="1400" dirty="0">
              <a:solidFill>
                <a:srgbClr val="31333F"/>
              </a:solidFill>
              <a:latin typeface="Times New Roman"/>
              <a:cs typeface="Times New Roman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1CE881-5F2B-22DE-342C-95898DCE3D3D}"/>
              </a:ext>
            </a:extLst>
          </p:cNvPr>
          <p:cNvSpPr/>
          <p:nvPr/>
        </p:nvSpPr>
        <p:spPr>
          <a:xfrm>
            <a:off x="10820136" y="113029"/>
            <a:ext cx="1086180" cy="803475"/>
          </a:xfrm>
          <a:prstGeom prst="ellipse">
            <a:avLst/>
          </a:prstGeom>
          <a:solidFill>
            <a:srgbClr val="852C2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solidFill>
                  <a:srgbClr val="214552"/>
                </a:solidFill>
              </a:rPr>
              <a:t>Set-6</a:t>
            </a:r>
          </a:p>
        </p:txBody>
      </p:sp>
    </p:spTree>
    <p:extLst>
      <p:ext uri="{BB962C8B-B14F-4D97-AF65-F5344CB8AC3E}">
        <p14:creationId xmlns:p14="http://schemas.microsoft.com/office/powerpoint/2010/main" val="2833622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EC12D-BE92-DA88-1699-C6D273EA3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A3AC7035-0C73-7AA1-FBC7-DDF9E887E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5EFA41D-FFF6-C8B7-2A89-1F43EFC33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4C509A3-F748-1AA3-9A25-C015E32CE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4C3B4F1-4954-2A97-1A44-D09AAEFCE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0BF72F-5A3D-9ECB-3F62-3EB41DB6C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679A317C-1D46-E737-2F61-4E0B89891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5">
              <a:extLst>
                <a:ext uri="{FF2B5EF4-FFF2-40B4-BE49-F238E27FC236}">
                  <a16:creationId xmlns:a16="http://schemas.microsoft.com/office/drawing/2014/main" id="{D98512A6-AE03-098C-35BE-4CC8A3A4E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5">
              <a:extLst>
                <a:ext uri="{FF2B5EF4-FFF2-40B4-BE49-F238E27FC236}">
                  <a16:creationId xmlns:a16="http://schemas.microsoft.com/office/drawing/2014/main" id="{AAA3DB49-CE39-0D4B-C4ED-63323CF95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1C679F5-D699-997F-F649-962A6FB5F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743E1BD3-EF57-F63E-761F-F1C4E22DC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0" name="Graphic 78">
            <a:extLst>
              <a:ext uri="{FF2B5EF4-FFF2-40B4-BE49-F238E27FC236}">
                <a16:creationId xmlns:a16="http://schemas.microsoft.com/office/drawing/2014/main" id="{34770F63-3014-300E-7762-67912F04E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1" name="Graphic 78">
              <a:extLst>
                <a:ext uri="{FF2B5EF4-FFF2-40B4-BE49-F238E27FC236}">
                  <a16:creationId xmlns:a16="http://schemas.microsoft.com/office/drawing/2014/main" id="{19DE9CC9-94EC-01AB-63DA-37B0A6272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aphic 78">
              <a:extLst>
                <a:ext uri="{FF2B5EF4-FFF2-40B4-BE49-F238E27FC236}">
                  <a16:creationId xmlns:a16="http://schemas.microsoft.com/office/drawing/2014/main" id="{63A50E67-42F0-500A-FF19-C1477F27F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4" name="Graphic 78">
                <a:extLst>
                  <a:ext uri="{FF2B5EF4-FFF2-40B4-BE49-F238E27FC236}">
                    <a16:creationId xmlns:a16="http://schemas.microsoft.com/office/drawing/2014/main" id="{1541B776-3D5A-E0B6-A706-EDED58F496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8516BAEE-1BE3-3B5F-B748-4E7FD01CDB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DF056C50-03BA-4DBC-5016-E489E905D7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0EED1C29-619E-D9A3-D9BA-2C2BF19379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1F441006-B8CF-D834-E72F-B24ADA915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522FD1-ABD9-5E7B-661C-E468C865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336551"/>
            <a:ext cx="9238329" cy="10853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i="0" dirty="0">
                <a:ea typeface="+mj-lt"/>
                <a:cs typeface="+mj-lt"/>
              </a:rPr>
              <a:t>Utilities Of EDA ?</a:t>
            </a:r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92FF9B6D-8FD0-5224-533C-982A8B7DA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0327160" y="-1"/>
            <a:ext cx="1864840" cy="6858001"/>
          </a:xfrm>
          <a:custGeom>
            <a:avLst/>
            <a:gdLst>
              <a:gd name="connsiteX0" fmla="*/ 0 w 888736"/>
              <a:gd name="connsiteY0" fmla="*/ 0 h 2458832"/>
              <a:gd name="connsiteX1" fmla="*/ 177394 w 888736"/>
              <a:gd name="connsiteY1" fmla="*/ 125361 h 2458832"/>
              <a:gd name="connsiteX2" fmla="*/ 881856 w 888736"/>
              <a:gd name="connsiteY2" fmla="*/ 1189003 h 2458832"/>
              <a:gd name="connsiteX3" fmla="*/ 691256 w 888736"/>
              <a:gd name="connsiteY3" fmla="*/ 1628147 h 2458832"/>
              <a:gd name="connsiteX4" fmla="*/ 118397 w 888736"/>
              <a:gd name="connsiteY4" fmla="*/ 2331723 h 2458832"/>
              <a:gd name="connsiteX5" fmla="*/ 0 w 888736"/>
              <a:gd name="connsiteY5" fmla="*/ 2458832 h 245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8736" h="2458832">
                <a:moveTo>
                  <a:pt x="0" y="0"/>
                </a:moveTo>
                <a:lnTo>
                  <a:pt x="177394" y="125361"/>
                </a:lnTo>
                <a:cubicBezTo>
                  <a:pt x="548898" y="378359"/>
                  <a:pt x="946091" y="744358"/>
                  <a:pt x="881856" y="1189003"/>
                </a:cubicBezTo>
                <a:cubicBezTo>
                  <a:pt x="858787" y="1347884"/>
                  <a:pt x="777253" y="1491554"/>
                  <a:pt x="691256" y="1628147"/>
                </a:cubicBezTo>
                <a:cubicBezTo>
                  <a:pt x="609261" y="1758448"/>
                  <a:pt x="399047" y="2022344"/>
                  <a:pt x="118397" y="2331723"/>
                </a:cubicBezTo>
                <a:lnTo>
                  <a:pt x="0" y="2458832"/>
                </a:lnTo>
                <a:close/>
              </a:path>
            </a:pathLst>
          </a:cu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50CC503-3788-2910-B143-93C6F6DE3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3846134" flipH="1">
            <a:off x="10213795" y="2188642"/>
            <a:ext cx="886141" cy="802496"/>
            <a:chOff x="10948005" y="3272152"/>
            <a:chExt cx="868640" cy="78664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3794EDF-3590-B54A-50EA-26D8701E0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E83EE67-B591-4390-871F-91F33BC4C4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90996E6-2DF4-D4B1-2302-436B144F26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7" name="Graphic 12">
              <a:extLst>
                <a:ext uri="{FF2B5EF4-FFF2-40B4-BE49-F238E27FC236}">
                  <a16:creationId xmlns:a16="http://schemas.microsoft.com/office/drawing/2014/main" id="{22FAB7DD-21C1-E0A7-7A01-8BF13F932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Graphic 15">
              <a:extLst>
                <a:ext uri="{FF2B5EF4-FFF2-40B4-BE49-F238E27FC236}">
                  <a16:creationId xmlns:a16="http://schemas.microsoft.com/office/drawing/2014/main" id="{2049275A-6C2C-234B-F785-40BE6620A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15">
              <a:extLst>
                <a:ext uri="{FF2B5EF4-FFF2-40B4-BE49-F238E27FC236}">
                  <a16:creationId xmlns:a16="http://schemas.microsoft.com/office/drawing/2014/main" id="{5D0A7B72-A112-68E5-C923-E95F98C91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3C603CA-8F3D-1B40-D0CA-C12E9B786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2" name="Graphic 78">
            <a:extLst>
              <a:ext uri="{FF2B5EF4-FFF2-40B4-BE49-F238E27FC236}">
                <a16:creationId xmlns:a16="http://schemas.microsoft.com/office/drawing/2014/main" id="{166AD66C-6954-5B13-6F86-F039EE5B8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352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6" name="Graphic 78">
              <a:extLst>
                <a:ext uri="{FF2B5EF4-FFF2-40B4-BE49-F238E27FC236}">
                  <a16:creationId xmlns:a16="http://schemas.microsoft.com/office/drawing/2014/main" id="{36134586-578D-97BD-C6B7-0BFCDF2B2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" name="Graphic 78">
              <a:extLst>
                <a:ext uri="{FF2B5EF4-FFF2-40B4-BE49-F238E27FC236}">
                  <a16:creationId xmlns:a16="http://schemas.microsoft.com/office/drawing/2014/main" id="{51031B53-61F2-E7F9-29E8-9A595261B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77" name="Graphic 78">
                <a:extLst>
                  <a:ext uri="{FF2B5EF4-FFF2-40B4-BE49-F238E27FC236}">
                    <a16:creationId xmlns:a16="http://schemas.microsoft.com/office/drawing/2014/main" id="{A3F434D7-D81D-EFD4-7734-893CDE8642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Graphic 78">
                <a:extLst>
                  <a:ext uri="{FF2B5EF4-FFF2-40B4-BE49-F238E27FC236}">
                    <a16:creationId xmlns:a16="http://schemas.microsoft.com/office/drawing/2014/main" id="{086649D9-F343-C538-3FEC-63BAA1D91B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Graphic 78">
                <a:extLst>
                  <a:ext uri="{FF2B5EF4-FFF2-40B4-BE49-F238E27FC236}">
                    <a16:creationId xmlns:a16="http://schemas.microsoft.com/office/drawing/2014/main" id="{C8B84EB8-0143-49E4-2B5C-A03D24119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27578878-BEBD-DF18-BDAA-B0D34C799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76984C5-4523-23F9-5F8D-5FCE3D28076D}"/>
              </a:ext>
            </a:extLst>
          </p:cNvPr>
          <p:cNvSpPr txBox="1"/>
          <p:nvPr/>
        </p:nvSpPr>
        <p:spPr>
          <a:xfrm>
            <a:off x="338226" y="1423899"/>
            <a:ext cx="3083719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Pandas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CA5D6-F7EE-F92F-75F2-4BF4A269225F}"/>
              </a:ext>
            </a:extLst>
          </p:cNvPr>
          <p:cNvSpPr txBox="1"/>
          <p:nvPr/>
        </p:nvSpPr>
        <p:spPr>
          <a:xfrm>
            <a:off x="3695788" y="1423899"/>
            <a:ext cx="3083719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 err="1">
                <a:latin typeface="Times New Roman"/>
                <a:cs typeface="Times New Roman"/>
              </a:rPr>
              <a:t>Numpy</a:t>
            </a:r>
            <a:endParaRPr lang="en-US" dirty="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ECDA05-2814-2F27-CD51-C88008D5D294}"/>
              </a:ext>
            </a:extLst>
          </p:cNvPr>
          <p:cNvSpPr txBox="1"/>
          <p:nvPr/>
        </p:nvSpPr>
        <p:spPr>
          <a:xfrm>
            <a:off x="7041444" y="1423899"/>
            <a:ext cx="2928939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Matplotlib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D0DD83-5849-E7D0-9F3A-8830CBC18F00}"/>
              </a:ext>
            </a:extLst>
          </p:cNvPr>
          <p:cNvSpPr txBox="1"/>
          <p:nvPr/>
        </p:nvSpPr>
        <p:spPr>
          <a:xfrm>
            <a:off x="324114" y="1931018"/>
            <a:ext cx="3083719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Seaborn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6DC72-ACFF-B595-2171-299055674306}"/>
              </a:ext>
            </a:extLst>
          </p:cNvPr>
          <p:cNvSpPr txBox="1"/>
          <p:nvPr/>
        </p:nvSpPr>
        <p:spPr>
          <a:xfrm>
            <a:off x="3681677" y="1931018"/>
            <a:ext cx="3083719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 err="1">
                <a:latin typeface="Times New Roman"/>
                <a:cs typeface="Times New Roman"/>
              </a:rPr>
              <a:t>Plotly</a:t>
            </a:r>
            <a:endParaRPr lang="en-US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A52329-A859-7B85-0E9F-7C98253338D8}"/>
              </a:ext>
            </a:extLst>
          </p:cNvPr>
          <p:cNvSpPr txBox="1"/>
          <p:nvPr/>
        </p:nvSpPr>
        <p:spPr>
          <a:xfrm>
            <a:off x="7027332" y="1931018"/>
            <a:ext cx="2928938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 err="1">
                <a:latin typeface="Times New Roman"/>
                <a:cs typeface="Times New Roman"/>
              </a:rPr>
              <a:t>datasist</a:t>
            </a:r>
            <a:endParaRPr lang="en-US" dirty="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3D1DB6-7F76-F7F8-C021-C8C320163E34}"/>
              </a:ext>
            </a:extLst>
          </p:cNvPr>
          <p:cNvSpPr txBox="1"/>
          <p:nvPr/>
        </p:nvSpPr>
        <p:spPr>
          <a:xfrm>
            <a:off x="352777" y="2410797"/>
            <a:ext cx="3041826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num2words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F1BE37E-10AF-E30F-6306-A073F63BFE9D}"/>
              </a:ext>
            </a:extLst>
          </p:cNvPr>
          <p:cNvSpPr txBox="1">
            <a:spLocks/>
          </p:cNvSpPr>
          <p:nvPr/>
        </p:nvSpPr>
        <p:spPr>
          <a:xfrm>
            <a:off x="513419" y="3184173"/>
            <a:ext cx="9238329" cy="10853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i="0" dirty="0">
                <a:ea typeface="+mj-lt"/>
                <a:cs typeface="+mj-lt"/>
              </a:rPr>
              <a:t>Dependencies Of Deployment  ?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9D6A2D-05DC-C55B-A05A-46EC4FD95384}"/>
              </a:ext>
            </a:extLst>
          </p:cNvPr>
          <p:cNvSpPr txBox="1"/>
          <p:nvPr/>
        </p:nvSpPr>
        <p:spPr>
          <a:xfrm>
            <a:off x="535781" y="4274343"/>
            <a:ext cx="3083719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 err="1">
                <a:latin typeface="Times New Roman"/>
                <a:cs typeface="Times New Roman"/>
              </a:rPr>
              <a:t>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C93BC4-8113-88F7-1948-683CA78BCCA3}"/>
              </a:ext>
            </a:extLst>
          </p:cNvPr>
          <p:cNvSpPr txBox="1"/>
          <p:nvPr/>
        </p:nvSpPr>
        <p:spPr>
          <a:xfrm>
            <a:off x="3964781" y="4274343"/>
            <a:ext cx="3083719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io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EBDC02-C9AC-C9BF-323D-F0C699EB12A8}"/>
              </a:ext>
            </a:extLst>
          </p:cNvPr>
          <p:cNvSpPr txBox="1"/>
          <p:nvPr/>
        </p:nvSpPr>
        <p:spPr>
          <a:xfrm>
            <a:off x="7153892" y="4274343"/>
            <a:ext cx="3083719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base64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A8564C-9331-5A7B-C687-77943066D58E}"/>
              </a:ext>
            </a:extLst>
          </p:cNvPr>
          <p:cNvSpPr txBox="1"/>
          <p:nvPr/>
        </p:nvSpPr>
        <p:spPr>
          <a:xfrm>
            <a:off x="507559" y="4838787"/>
            <a:ext cx="3083719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PIL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4EA83C-F08F-E2CB-59BA-8A72179E095E}"/>
              </a:ext>
            </a:extLst>
          </p:cNvPr>
          <p:cNvSpPr txBox="1"/>
          <p:nvPr/>
        </p:nvSpPr>
        <p:spPr>
          <a:xfrm>
            <a:off x="3936559" y="4838787"/>
            <a:ext cx="3083719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 err="1">
                <a:latin typeface="Times New Roman"/>
                <a:cs typeface="Times New Roman"/>
              </a:rPr>
              <a:t>Streamlit</a:t>
            </a:r>
          </a:p>
        </p:txBody>
      </p:sp>
    </p:spTree>
    <p:extLst>
      <p:ext uri="{BB962C8B-B14F-4D97-AF65-F5344CB8AC3E}">
        <p14:creationId xmlns:p14="http://schemas.microsoft.com/office/powerpoint/2010/main" val="3246646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AF50D-ADED-AEF6-44EE-063A55DE9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A0EEB-33C4-DB1F-E699-337BA51D9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5689" y="2195"/>
            <a:ext cx="5220935" cy="7644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dirty="0" err="1"/>
              <a:t>Github</a:t>
            </a:r>
            <a:r>
              <a:rPr lang="en-US" sz="2800" dirty="0"/>
              <a:t> And Deployment Link</a:t>
            </a:r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2EDC2578-BDB0-4118-975D-CFCE02823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63724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2" name="Graphic 78">
              <a:extLst>
                <a:ext uri="{FF2B5EF4-FFF2-40B4-BE49-F238E27FC236}">
                  <a16:creationId xmlns:a16="http://schemas.microsoft.com/office/drawing/2014/main" id="{FB6536F0-4A9C-46C9-96E9-22CBB33E6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DFD6A33A-F889-42D7-ADC2-DD9B88DF0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C375AFD7-9E86-4D19-B86E-C936D33B0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Graphic 78">
                <a:extLst>
                  <a:ext uri="{FF2B5EF4-FFF2-40B4-BE49-F238E27FC236}">
                    <a16:creationId xmlns:a16="http://schemas.microsoft.com/office/drawing/2014/main" id="{4102C78E-31A2-4DB3-8790-415EB0B48A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4F3E144D-8167-438A-B67F-50F5D9C0C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4BE2135F-02C1-449F-B195-232E9AFDD6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A6CDD2C-A600-C6F8-DE05-0E9F22FA8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7305" y="1013838"/>
            <a:ext cx="4159233" cy="13962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00" dirty="0" err="1">
                <a:latin typeface="Times New Roman"/>
                <a:cs typeface="Times New Roman"/>
              </a:rPr>
              <a:t>Github</a:t>
            </a:r>
            <a:r>
              <a:rPr lang="en-US" sz="1900" dirty="0">
                <a:latin typeface="Times New Roman"/>
                <a:cs typeface="Times New Roman"/>
              </a:rPr>
              <a:t> Link : </a:t>
            </a:r>
            <a:endParaRPr lang="en-US" sz="1900" dirty="0"/>
          </a:p>
          <a:p>
            <a:pPr marL="800100" lvl="2" indent="-228600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500" dirty="0">
                <a:ea typeface="+mn-lt"/>
                <a:cs typeface="+mn-lt"/>
                <a:hlinkClick r:id="rId2"/>
              </a:rPr>
              <a:t>EDA_airbnb-NYC/presentation-links at main · Islam-Yousri/EDA_airbnb-NYC</a:t>
            </a:r>
            <a:r>
              <a:rPr lang="en-US" sz="1500" dirty="0">
                <a:latin typeface="Times New Roman"/>
                <a:cs typeface="Times New Roman"/>
              </a:rPr>
              <a:t> </a:t>
            </a:r>
            <a:endParaRPr lang="en-US" sz="15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969CC-A6C8-A6E2-510D-BBF5EEDBF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545" b="37706"/>
          <a:stretch>
            <a:fillRect/>
          </a:stretch>
        </p:blipFill>
        <p:spPr>
          <a:xfrm>
            <a:off x="20" y="2865265"/>
            <a:ext cx="12191980" cy="3992735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8B1C41EB-6D8C-8234-945E-10C1495E9AD7}"/>
              </a:ext>
            </a:extLst>
          </p:cNvPr>
          <p:cNvSpPr txBox="1">
            <a:spLocks/>
          </p:cNvSpPr>
          <p:nvPr/>
        </p:nvSpPr>
        <p:spPr>
          <a:xfrm>
            <a:off x="825411" y="1110209"/>
            <a:ext cx="4159233" cy="139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/>
                <a:cs typeface="Times New Roman"/>
              </a:rPr>
              <a:t>Deployment Link : </a:t>
            </a:r>
            <a:endParaRPr lang="en-US" sz="1900" dirty="0"/>
          </a:p>
          <a:p>
            <a:pPr marL="342900"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700" dirty="0">
                <a:ea typeface="+mn-lt"/>
                <a:cs typeface="+mn-lt"/>
                <a:hlinkClick r:id="rId4"/>
              </a:rPr>
              <a:t>EDA-Airbnb NYC Dataset · Streamlit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012686927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RocaVTI</vt:lpstr>
      <vt:lpstr>EDA Of Airbnb(NYC) Dataset</vt:lpstr>
      <vt:lpstr>Introduction — What is the dataset?</vt:lpstr>
      <vt:lpstr>Feature Categories</vt:lpstr>
      <vt:lpstr>Feature Descriptions</vt:lpstr>
      <vt:lpstr>Data Quality</vt:lpstr>
      <vt:lpstr>EDA Analysis</vt:lpstr>
      <vt:lpstr>EDA Analysis</vt:lpstr>
      <vt:lpstr>EDA Analysis</vt:lpstr>
      <vt:lpstr>EDA Analysis</vt:lpstr>
      <vt:lpstr>EDA Analysis</vt:lpstr>
      <vt:lpstr>Mapping Listing Locations </vt:lpstr>
      <vt:lpstr>EDA Analysis</vt:lpstr>
      <vt:lpstr>Listings Number Progress Over Years </vt:lpstr>
      <vt:lpstr>EDA Analysis</vt:lpstr>
      <vt:lpstr>EDA Analysis</vt:lpstr>
      <vt:lpstr>Distribution Of   Distance(From City Center ) And Price </vt:lpstr>
      <vt:lpstr>Guest Intent Frequency </vt:lpstr>
      <vt:lpstr>Frequency of review Number case </vt:lpstr>
      <vt:lpstr> Insights </vt:lpstr>
      <vt:lpstr> Insights </vt:lpstr>
      <vt:lpstr> Insights </vt:lpstr>
      <vt:lpstr> Insights </vt:lpstr>
      <vt:lpstr> Insights </vt:lpstr>
      <vt:lpstr> Insights </vt:lpstr>
      <vt:lpstr>Utilities Of EDA ?</vt:lpstr>
      <vt:lpstr>Github And Deployment 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1558</cp:revision>
  <dcterms:created xsi:type="dcterms:W3CDTF">2026-09-27T06:08:54Z</dcterms:created>
  <dcterms:modified xsi:type="dcterms:W3CDTF">2026-09-28T18:24:29Z</dcterms:modified>
</cp:coreProperties>
</file>